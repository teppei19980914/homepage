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1500000"/>
            <a:ext cx="10591695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0A5FA"/>
                </a:solidFill>
              </a:defRPr>
            </a:pPr>
            <a:r>
              <a:t>Python未経験エンジニアが</a:t>
            </a:r>
            <a:br/>
            <a:r>
              <a:t>AI駆動開発で2週間でGTDアプリを作った話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2800000"/>
            <a:ext cx="1059169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78BFA"/>
                </a:solidFill>
              </a:defRPr>
            </a:pPr>
            <a:r>
              <a:t>— MindFlow 開発記 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4500000"/>
            <a:ext cx="1059169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https://mindflow-gtd.onrender.com/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200000"/>
            <a:ext cx="1059169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</a:defRPr>
            </a:pPr>
            <a:r>
              <a:t>自己紹介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900000"/>
            <a:ext cx="55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</a:p>
          <a:p>
            <a:pPr>
              <a:defRPr sz="2000" b="1">
                <a:solidFill>
                  <a:srgbClr val="A78BFA"/>
                </a:solidFill>
              </a:defRPr>
            </a:pPr>
            <a:r>
              <a:t>プロフィール</a:t>
            </a:r>
          </a:p>
          <a:p>
            <a:pPr>
              <a:defRPr sz="1600" b="0">
                <a:solidFill>
                  <a:srgbClr val="E2E8F0"/>
                </a:solidFill>
              </a:defRPr>
            </a:pPr>
            <a:r>
              <a:t>27歳 / IT業界 5年目 / 副業エンジニア</a:t>
            </a:r>
          </a:p>
          <a:p>
            <a:pPr>
              <a:defRPr sz="1000" b="0">
                <a:solidFill>
                  <a:srgbClr val="E2E8F0"/>
                </a:solidFill>
              </a:defRPr>
            </a:pPr>
          </a:p>
          <a:p>
            <a:pPr>
              <a:defRPr sz="1600" b="1">
                <a:solidFill>
                  <a:srgbClr val="06B6D4"/>
                </a:solidFill>
              </a:defRPr>
            </a:pPr>
            <a:r>
              <a:t>IT業界経験</a:t>
            </a:r>
          </a:p>
          <a:p>
            <a:pPr>
              <a:defRPr sz="1400" b="0">
                <a:solidFill>
                  <a:srgbClr val="94A3B8"/>
                </a:solidFill>
              </a:defRPr>
            </a:pPr>
            <a:r>
              <a:t>パッケージ開発（約3年）/ SES（現職）</a:t>
            </a:r>
          </a:p>
          <a:p>
            <a:pPr>
              <a:defRPr sz="1000" b="0">
                <a:solidFill>
                  <a:srgbClr val="E2E8F0"/>
                </a:solidFill>
              </a:defRPr>
            </a:pPr>
          </a:p>
          <a:p>
            <a:pPr>
              <a:defRPr sz="1600" b="1">
                <a:solidFill>
                  <a:srgbClr val="06B6D4"/>
                </a:solidFill>
              </a:defRPr>
            </a:pPr>
            <a:r>
              <a:t>Python / FastAPI 経験</a:t>
            </a:r>
          </a:p>
          <a:p>
            <a:pPr>
              <a:defRPr sz="1400" b="0">
                <a:solidFill>
                  <a:srgbClr val="94A3B8"/>
                </a:solidFill>
              </a:defRPr>
            </a:pPr>
            <a:r>
              <a:t>なし（MindFlow が初）</a:t>
            </a:r>
          </a:p>
          <a:p>
            <a:pPr>
              <a:defRPr sz="1000" b="0">
                <a:solidFill>
                  <a:srgbClr val="E2E8F0"/>
                </a:solidFill>
              </a:defRPr>
            </a:pPr>
          </a:p>
          <a:p>
            <a:pPr>
              <a:defRPr sz="1600" b="1">
                <a:solidFill>
                  <a:srgbClr val="06B6D4"/>
                </a:solidFill>
              </a:defRPr>
            </a:pPr>
            <a:r>
              <a:t>個人開発実績</a:t>
            </a:r>
          </a:p>
          <a:p>
            <a:pPr>
              <a:defRPr sz="1400" b="0">
                <a:solidFill>
                  <a:srgbClr val="94A3B8"/>
                </a:solidFill>
              </a:defRPr>
            </a:pPr>
            <a:r>
              <a:t>ユメログ（Flutter/Dart）— AI駆動開発で3週間で開発</a:t>
            </a:r>
          </a:p>
          <a:p>
            <a:pPr>
              <a:defRPr sz="1400" b="0">
                <a:solidFill>
                  <a:srgbClr val="94A3B8"/>
                </a:solidFill>
              </a:defRPr>
            </a:pPr>
            <a:r>
              <a:t>MindFlow（Python/FastAPI）— 本LTの題材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00000" y="900000"/>
            <a:ext cx="50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</a:p>
          <a:p>
            <a:pPr>
              <a:defRPr sz="2000" b="1">
                <a:solidFill>
                  <a:srgbClr val="A78BFA"/>
                </a:solidFill>
              </a:defRPr>
            </a:pPr>
            <a:r>
              <a:t>今日のゴール</a:t>
            </a:r>
          </a:p>
          <a:p>
            <a:pPr>
              <a:defRPr sz="1000" b="0">
                <a:solidFill>
                  <a:srgbClr val="E2E8F0"/>
                </a:solidFill>
              </a:defRPr>
            </a:pPr>
          </a:p>
          <a:p>
            <a:pPr>
              <a:defRPr sz="1800" b="1">
                <a:solidFill>
                  <a:srgbClr val="E2E8F0"/>
                </a:solidFill>
              </a:defRPr>
            </a:pPr>
            <a:r>
              <a:t>2作目のAI駆動開発で</a:t>
            </a:r>
          </a:p>
          <a:p>
            <a:pPr>
              <a:defRPr sz="1800" b="1">
                <a:solidFill>
                  <a:srgbClr val="E2E8F0"/>
                </a:solidFill>
              </a:defRPr>
            </a:pPr>
            <a:r>
              <a:t>何がさらに効率化されたか</a:t>
            </a:r>
          </a:p>
          <a:p>
            <a:pPr>
              <a:defRPr sz="1800" b="1">
                <a:solidFill>
                  <a:srgbClr val="E2E8F0"/>
                </a:solidFill>
              </a:defRPr>
            </a:pPr>
            <a:r>
              <a:t>を数字で示す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200000"/>
            <a:ext cx="1059169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</a:defRPr>
            </a:pPr>
            <a:r>
              <a:t>Before: もし従来の開発で作ったら？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900000"/>
            <a:ext cx="105916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</a:defRPr>
            </a:pPr>
            <a:r>
              <a:t>今回作ったアプリの規模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1300000"/>
            <a:ext cx="105916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Python約3,500行 / テスト68件 / GTD5フェーズ / FastAPI + HTMX + SQLite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2000000"/>
            <a:ext cx="32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</a:p>
          <a:p>
            <a:pPr>
              <a:defRPr sz="1800" b="1">
                <a:solidFill>
                  <a:srgbClr val="06B6D4"/>
                </a:solidFill>
              </a:defRPr>
            </a:pPr>
            <a:r>
              <a:t>フレームワーク学習</a:t>
            </a:r>
          </a:p>
          <a:p>
            <a:pPr>
              <a:defRPr sz="2800" b="1">
                <a:solidFill>
                  <a:srgbClr val="E2E8F0"/>
                </a:solidFill>
              </a:defRPr>
            </a:pPr>
            <a:r>
              <a:t>1〜2ヶ月</a:t>
            </a:r>
          </a:p>
          <a:p>
            <a:pPr>
              <a:defRPr sz="1200" b="0">
                <a:solidFill>
                  <a:srgbClr val="94A3B8"/>
                </a:solidFill>
              </a:defRPr>
            </a:pPr>
            <a:r>
              <a:t>Python / FastAPI / SQLAlchemy /</a:t>
            </a:r>
            <a:br/>
            <a:r>
              <a:t>HTMX / Jinja2 を学ぶ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00000" y="2000000"/>
            <a:ext cx="32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</a:p>
          <a:p>
            <a:pPr>
              <a:defRPr sz="1800" b="1">
                <a:solidFill>
                  <a:srgbClr val="06B6D4"/>
                </a:solidFill>
              </a:defRPr>
            </a:pPr>
            <a:r>
              <a:t>設計・開発・テスト</a:t>
            </a:r>
          </a:p>
          <a:p>
            <a:pPr>
              <a:defRPr sz="2800" b="1">
                <a:solidFill>
                  <a:srgbClr val="E2E8F0"/>
                </a:solidFill>
              </a:defRPr>
            </a:pPr>
            <a:r>
              <a:t>2〜4ヶ月</a:t>
            </a:r>
          </a:p>
          <a:p>
            <a:pPr>
              <a:defRPr sz="1200" b="0">
                <a:solidFill>
                  <a:srgbClr val="94A3B8"/>
                </a:solidFill>
              </a:defRPr>
            </a:pPr>
            <a:r>
              <a:t>GTDロジック実装 + Web UI +</a:t>
            </a:r>
            <a:br/>
            <a:r>
              <a:t>デプロイ環境構築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0" y="2000000"/>
            <a:ext cx="32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</a:p>
          <a:p>
            <a:pPr>
              <a:defRPr sz="1800" b="1">
                <a:solidFill>
                  <a:srgbClr val="06B6D4"/>
                </a:solidFill>
              </a:defRPr>
            </a:pPr>
            <a:r>
              <a:t>合計</a:t>
            </a:r>
          </a:p>
          <a:p>
            <a:pPr>
              <a:defRPr sz="2800" b="1">
                <a:solidFill>
                  <a:srgbClr val="E2E8F0"/>
                </a:solidFill>
              </a:defRPr>
            </a:pPr>
            <a:r>
              <a:t>3〜6ヶ月</a:t>
            </a:r>
          </a:p>
          <a:p>
            <a:pPr>
              <a:defRPr sz="1200" b="0">
                <a:solidFill>
                  <a:srgbClr val="94A3B8"/>
                </a:solidFill>
              </a:defRPr>
            </a:pPr>
            <a:r>
              <a:t>1人で新規スクラッチ開発の場合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200000"/>
            <a:ext cx="1059169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</a:defRPr>
            </a:pPr>
            <a:r>
              <a:t>After: AI駆動開発の実績（2作目）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900000"/>
            <a:ext cx="3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B6D4"/>
                </a:solidFill>
              </a:defRPr>
            </a:pPr>
            <a:r>
              <a:t>開発期間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120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</a:defRPr>
            </a:pPr>
            <a:r>
              <a:t>14日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3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（従来: 3〜6ヶ月）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00000" y="900000"/>
            <a:ext cx="3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B6D4"/>
                </a:solidFill>
              </a:defRPr>
            </a:pPr>
            <a:r>
              <a:t>1日あたり生産量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0000" y="120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</a:defRPr>
            </a:pPr>
            <a:r>
              <a:t>250行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00000" y="1800000"/>
            <a:ext cx="3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（従来: 50〜100行）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0" y="900000"/>
            <a:ext cx="3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B6D4"/>
                </a:solidFill>
              </a:defRPr>
            </a:pPr>
            <a:r>
              <a:t>学習コスト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0" y="120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</a:defRPr>
            </a:pPr>
            <a:r>
              <a:t>0日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0" y="1800000"/>
            <a:ext cx="3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（従来: 1〜2ヶ月）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00" y="2400000"/>
            <a:ext cx="105916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</a:defRPr>
            </a:pPr>
            <a:r>
              <a:t>ユメログ（1作目）との比較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" y="29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</a:defRPr>
            </a:pPr>
            <a:r>
              <a:t>指標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0000" y="29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</a:defRPr>
            </a:pPr>
            <a:r>
              <a:t>ユメログ（1作目）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29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</a:defRPr>
            </a:pPr>
            <a:r>
              <a:t>MindFlow（2作目）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00000" y="29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</a:defRPr>
            </a:pPr>
            <a:r>
              <a:t>変化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000" y="325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開発期間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0000" y="325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21日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0000" y="325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14日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0000" y="325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78BFA"/>
                </a:solidFill>
              </a:defRPr>
            </a:pPr>
            <a:r>
              <a:t>33% 短縮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000" y="36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コード量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0000" y="36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48,000行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0000" y="36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3,500行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00000" y="36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78BFA"/>
                </a:solidFill>
              </a:defRPr>
            </a:pPr>
            <a:r>
              <a:t>適正規模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000" y="395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テスト件数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0000" y="395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813件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00000" y="395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68件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00000" y="395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78BFA"/>
                </a:solidFill>
              </a:defRPr>
            </a:pPr>
            <a:r>
              <a:t>適正規模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3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テストカバレッジ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0000" y="43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00000" y="43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90%+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00000" y="43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78BFA"/>
                </a:solidFill>
              </a:defRPr>
            </a:pPr>
            <a:r>
              <a:t>品質重視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000" y="465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デプロイ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00000" y="465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GitHub Pages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00000" y="465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Render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0000" y="465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78BFA"/>
                </a:solidFill>
              </a:defRPr>
            </a:pPr>
            <a:r>
              <a:t>本番運用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000" y="50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認証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00000" y="50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なし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00000" y="50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あり（Basic Auth）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00000" y="5000000"/>
            <a:ext cx="2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78BFA"/>
                </a:solidFill>
              </a:defRPr>
            </a:pPr>
            <a:r>
              <a:t>セキュリティ↑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200000"/>
            <a:ext cx="1059169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</a:defRPr>
            </a:pPr>
            <a:r>
              <a:t>2作目で何が変わったか？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800000"/>
            <a:ext cx="105916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78BFA"/>
                </a:solidFill>
              </a:defRPr>
            </a:pPr>
            <a:r>
              <a:t>1作目の知見を「仕組み化」— Claude Code Level 5 テンプレート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0000" y="140000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</a:defRPr>
            </a:pPr>
            <a:r>
              <a:t>1作目で得た知見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00000" y="14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</a:defRPr>
            </a:pPr>
            <a:r>
              <a:t>2作目での活用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0000" y="190000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CLAUDE.md のルール整備に3日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0000" y="19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テンプレートから5分でセットアップ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0000" y="240000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Skills を試行錯誤で作成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00000" y="24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テンプレートに4スキル同梱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0000" y="290000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Hooks を後から追加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0000" y="29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初日から自動フォーマット+テスト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0000" y="340000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Agents を手動実行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0000" y="34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初日からセキュリティ・性能レビュー並行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0000" y="3900000"/>
            <a:ext cx="4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Python学習が必要...のはず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90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AIが全コード生成。学習コスト0日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000" y="5200000"/>
            <a:ext cx="1059169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8BFA"/>
                </a:solidFill>
              </a:defRPr>
            </a:pPr>
            <a:r>
              <a:t>結論: 1作目の「学び」をテンプレート化することで、2作目以降の立ち上がりが劇的に速くなる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200000"/>
            <a:ext cx="1059169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</a:defRPr>
            </a:pPr>
            <a:r>
              <a:t>AI駆動開発のコスト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900000"/>
            <a:ext cx="105916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78BFA"/>
                </a:solidFill>
              </a:defRPr>
            </a:pPr>
            <a:r>
              <a:t>MindFlow 開発にかかった実コスト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1500000"/>
            <a:ext cx="4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</a:defRPr>
            </a:pPr>
            <a:r>
              <a:t>項目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0" y="150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</a:defRPr>
            </a:pPr>
            <a:r>
              <a:t>金額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00000" y="1500000"/>
            <a:ext cx="3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備考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1900000"/>
            <a:ext cx="4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Claude Code (Max)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0" y="190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$100/月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0000" y="1900000"/>
            <a:ext cx="3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API使用量込み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2300000"/>
            <a:ext cx="4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Render (ホスティング)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0000" y="230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$0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00000" y="2300000"/>
            <a:ext cx="3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無料枚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" y="2700000"/>
            <a:ext cx="4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SQLite (DB)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0000" y="270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$0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0000" y="2700000"/>
            <a:ext cx="3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ファイルDB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000" y="3100000"/>
            <a:ext cx="4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GitHub Actions (CI/CD)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0000" y="310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$0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0000" y="3100000"/>
            <a:ext cx="3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Public リポジトリ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000" y="3500000"/>
            <a:ext cx="4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</a:defRPr>
            </a:pPr>
            <a:r>
              <a:t>合計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0000" y="350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</a:defRPr>
            </a:pPr>
            <a:r>
              <a:t>$100/月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00000" y="3500000"/>
            <a:ext cx="3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= 約15,000円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000" y="4500000"/>
            <a:ext cx="10591695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2E8F0"/>
                </a:solidFill>
              </a:defRPr>
            </a:pPr>
            <a:r>
              <a:t>従来の外注開発（3〜6ヶ月）なら 150〜300万円。</a:t>
            </a:r>
            <a:br/>
            <a:r>
              <a:t>AI駆動開発なら月1.5万円で同等以上の品質。コスト比 1/100〜1/200。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200000"/>
            <a:ext cx="1059169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</a:defRPr>
            </a:pPr>
            <a:r>
              <a:t>で、何を作ったの？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700000"/>
            <a:ext cx="1059169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78BFA"/>
                </a:solidFill>
              </a:defRPr>
            </a:pPr>
            <a:r>
              <a:t>「頭の中を、空にする。」— GTDタスク管理アプリ MindFlow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1400000"/>
            <a:ext cx="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0A5FA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900000"/>
            <a:ext cx="2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</a:defRPr>
            </a:pPr>
            <a:r>
              <a:t>収集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300000"/>
            <a:ext cx="2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Inboxに書き出す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00000" y="1400000"/>
            <a:ext cx="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0A5FA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00000"/>
            <a:ext cx="2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</a:defRPr>
            </a:pPr>
            <a:r>
              <a:t>明確化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00000" y="2300000"/>
            <a:ext cx="2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ウィザードで分類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0" y="1400000"/>
            <a:ext cx="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0A5FA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0000" y="1900000"/>
            <a:ext cx="2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</a:defRPr>
            </a:pPr>
            <a:r>
              <a:t>整理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000" y="2300000"/>
            <a:ext cx="2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優先順位マトリクス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0000" y="1400000"/>
            <a:ext cx="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0A5FA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0000" y="1900000"/>
            <a:ext cx="2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</a:defRPr>
            </a:pPr>
            <a:r>
              <a:t>実行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0000" y="2300000"/>
            <a:ext cx="2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今やるべきを表示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00000" y="1400000"/>
            <a:ext cx="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0A5FA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0000" y="1900000"/>
            <a:ext cx="2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E8F0"/>
                </a:solidFill>
              </a:defRPr>
            </a:pPr>
            <a:r>
              <a:t>見直し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0000" y="2300000"/>
            <a:ext cx="2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振り返り・再計画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000" y="3200000"/>
            <a:ext cx="1059169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</a:defRPr>
            </a:pPr>
            <a:r>
              <a:t>主な特徴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000" y="360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• GTD 5フェーズ完全対応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000" y="360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• ナチュラル・プランニング・モデル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000" y="395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• 重要度×緊急度マトリクス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000" y="395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• HTMX でSPA風UX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000" y="430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• 3層アーキテクチャ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0000" y="430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</a:defRPr>
            </a:pPr>
            <a:r>
              <a:t>• Basic認証 + SQLite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200000"/>
            <a:ext cx="1059169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</a:defRPr>
            </a:pPr>
            <a:r>
              <a:t>技術スタック &amp; アーキテクチャ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90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00000" y="900000"/>
            <a:ext cx="8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FastAPI + Jinja2 + HTMX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30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0000" y="1300000"/>
            <a:ext cx="8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SQLite + SQLAlchemy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170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テスト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700000"/>
            <a:ext cx="8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pytest + httpx (カバレッジ90%+)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210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品質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0000" y="2100000"/>
            <a:ext cx="8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ruff + mypy (strict)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250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CI/CD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500000"/>
            <a:ext cx="8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GitHub Actions + Render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" y="2900000"/>
            <a:ext cx="2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認証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0000" y="2900000"/>
            <a:ext cx="8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Basic Auth (SHA-256)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00" y="3600000"/>
            <a:ext cx="105916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</a:defRPr>
            </a:pPr>
            <a:r>
              <a:t>設計方針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0000" y="410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• ロジック層分離: GtdRepositoryProtocol でビジネスロジックをWeb層から完全分離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000" y="450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• 3層アーキテクチャ: Model → Logic → Web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0000" y="490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• HTMX: ページ遷移なしのインタラクティブUI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0000" y="5300000"/>
            <a:ext cx="10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  <a:r>
              <a:t>• Zero-Friction Capture: 書き出すハードルを限りなくゼロに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200000"/>
            <a:ext cx="1059169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</a:defRPr>
            </a:pPr>
            <a:r>
              <a:t>なぜこのアプリを作ったのか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1000000"/>
            <a:ext cx="1059169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78BFA"/>
                </a:solidFill>
              </a:defRPr>
            </a:pPr>
            <a:r>
              <a:t>「あれもやらなきゃ」「これも忘れちゃいけない」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1350000"/>
            <a:ext cx="1059169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78BFA"/>
                </a:solidFill>
              </a:defRPr>
            </a:pPr>
            <a:r>
              <a:t>頭の中がタスクで埋め尽くされていませんか？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700000"/>
            <a:ext cx="1059169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800000" y="2050000"/>
            <a:ext cx="1059169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</a:defRPr>
            </a:pPr>
            <a:r>
              <a:t>脳のワーキングメモリは極めて有限です。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2400000"/>
            <a:ext cx="1059169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</a:defRPr>
            </a:pPr>
            <a:r>
              <a:t>未処理のタスクがメモリを占有し続ける限り、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2750000"/>
            <a:ext cx="1059169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</a:defRPr>
            </a:pPr>
            <a:r>
              <a:t>本来の創造的な処理能力は発揮できません。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3100000"/>
            <a:ext cx="1059169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0000" y="3450000"/>
            <a:ext cx="1059169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</a:defRPr>
            </a:pPr>
            <a:r>
              <a:t>MindFlow は、頭の中のすべてを安全な外部ストレージに書き出し、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3800000"/>
            <a:ext cx="1059169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</a:defRPr>
            </a:pPr>
            <a:r>
              <a:t>脳を本来のフロー状態へ導くツールです。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00" y="4150000"/>
            <a:ext cx="1059169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0000" y="4500000"/>
            <a:ext cx="1059169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78BFA"/>
                </a:solidFill>
              </a:defRPr>
            </a:pPr>
            <a:r>
              <a:t>Mind = 脳内メモリ  |  Flow = 雑念なく没頭できる状態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200000"/>
            <a:ext cx="1059169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0A5FA"/>
                </a:solidFill>
              </a:defRPr>
            </a:pPr>
            <a: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0" y="1000000"/>
            <a:ext cx="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0A5FA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0" y="1000000"/>
            <a:ext cx="8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</a:defRPr>
            </a:pPr>
            <a:r>
              <a:t>Python未経験でも2週間で本番デプロイまで到達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0000" y="1700000"/>
            <a:ext cx="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0A5FA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00000" y="1700000"/>
            <a:ext cx="8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</a:defRPr>
            </a:pPr>
            <a:r>
              <a:t>1作目の知見をテンプレート化 → 2作目の立ち上がりが劇的に速い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0000" y="2400000"/>
            <a:ext cx="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0A5FA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00000" y="2400000"/>
            <a:ext cx="8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</a:defRPr>
            </a:pPr>
            <a:r>
              <a:t>月1.5万円で従来150〜300万円相当の開発が可能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0000" y="3100000"/>
            <a:ext cx="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0A5FA"/>
                </a:solidFill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0000" y="3100000"/>
            <a:ext cx="8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</a:defRPr>
            </a:pPr>
            <a:r>
              <a:t>テスト・CI/CD・認証まで含めた「本番品質」を実現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4200000"/>
            <a:ext cx="1059169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78BFA"/>
                </a:solidFill>
              </a:defRPr>
            </a:pPr>
            <a:r>
              <a:t>AI駆動開発は「繰り返すほど速くなるエンジン」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00" y="5200000"/>
            <a:ext cx="105916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https://mindflow-gtd.onrender.com/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" y="5800000"/>
            <a:ext cx="105916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ご清聴ありがとうございました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