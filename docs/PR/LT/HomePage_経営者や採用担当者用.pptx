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801" autoAdjust="0"/>
  </p:normalViewPr>
  <p:slideViewPr>
    <p:cSldViewPr snapToGrid="0" snapToObjects="1">
      <p:cViewPr varScale="1">
        <p:scale>
          <a:sx n="163" d="100"/>
          <a:sy n="163" d="100"/>
        </p:scale>
        <p:origin x="17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90508-11FE-4107-B12B-FCBF7DE7140E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D1D6-3BC6-4DF1-B693-2708FA1216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5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技術選定の判断基準</a:t>
            </a:r>
            <a:r>
              <a:rPr dirty="0"/>
              <a:t>】</a:t>
            </a:r>
          </a:p>
          <a:p>
            <a:r>
              <a:rPr dirty="0" err="1"/>
              <a:t>本サイトは「個人のホームページ</a:t>
            </a:r>
            <a:r>
              <a:rPr dirty="0"/>
              <a:t> = </a:t>
            </a:r>
            <a:r>
              <a:rPr dirty="0" err="1"/>
              <a:t>静的コンテンツ中心</a:t>
            </a:r>
            <a:r>
              <a:rPr dirty="0"/>
              <a:t>」「</a:t>
            </a:r>
            <a:r>
              <a:rPr dirty="0" err="1"/>
              <a:t>無料運用</a:t>
            </a:r>
            <a:r>
              <a:rPr dirty="0"/>
              <a:t>」「</a:t>
            </a:r>
            <a:r>
              <a:rPr dirty="0" err="1"/>
              <a:t>SEO重視</a:t>
            </a:r>
            <a:r>
              <a:rPr dirty="0"/>
              <a:t>」「</a:t>
            </a:r>
            <a:r>
              <a:rPr dirty="0" err="1"/>
              <a:t>個人開発で保守可能」を前提に技術を選定</a:t>
            </a:r>
            <a:r>
              <a:rPr dirty="0"/>
              <a:t>。</a:t>
            </a:r>
          </a:p>
          <a:p>
            <a:r>
              <a:rPr dirty="0" err="1"/>
              <a:t>判断軸は</a:t>
            </a:r>
            <a:r>
              <a:rPr dirty="0"/>
              <a:t> ① </a:t>
            </a:r>
            <a:r>
              <a:rPr dirty="0" err="1"/>
              <a:t>学習コスト</a:t>
            </a:r>
            <a:r>
              <a:rPr dirty="0"/>
              <a:t> ② </a:t>
            </a:r>
            <a:r>
              <a:rPr dirty="0" err="1"/>
              <a:t>運用コスト</a:t>
            </a:r>
            <a:r>
              <a:rPr dirty="0"/>
              <a:t> ③ </a:t>
            </a:r>
            <a:r>
              <a:rPr dirty="0" err="1"/>
              <a:t>AIとの相性</a:t>
            </a:r>
            <a:r>
              <a:rPr dirty="0"/>
              <a:t>（=</a:t>
            </a:r>
            <a:r>
              <a:rPr dirty="0" err="1"/>
              <a:t>コード生成しやすさ</a:t>
            </a:r>
            <a:r>
              <a:rPr dirty="0"/>
              <a:t>） ④ </a:t>
            </a:r>
            <a:r>
              <a:rPr dirty="0" err="1"/>
              <a:t>ロックインの少なさ</a:t>
            </a:r>
            <a:r>
              <a:rPr dirty="0"/>
              <a:t> ⑤ </a:t>
            </a:r>
            <a:r>
              <a:rPr dirty="0" err="1"/>
              <a:t>パフォーマンス（TTFB</a:t>
            </a:r>
            <a:r>
              <a:rPr dirty="0"/>
              <a:t> / Lighthouse）。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WEB: Astro v6 + TypeScript (strict) + Content Collections + Zod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</a:t>
            </a:r>
            <a:r>
              <a:rPr dirty="0" err="1"/>
              <a:t>静的サイトに最適化されたフレームワーク。Islands</a:t>
            </a:r>
            <a:r>
              <a:rPr dirty="0"/>
              <a:t> Architecture </a:t>
            </a:r>
            <a:r>
              <a:rPr dirty="0" err="1"/>
              <a:t>によりJSバンドルを最小化できる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 .astro </a:t>
            </a:r>
            <a:r>
              <a:rPr dirty="0" err="1"/>
              <a:t>ファイルで</a:t>
            </a:r>
            <a:r>
              <a:rPr dirty="0"/>
              <a:t> HTML/CSS/JS を1ファイルに集約。MDX対応。Content Collections </a:t>
            </a:r>
            <a:r>
              <a:rPr dirty="0" err="1"/>
              <a:t>で型安全なコンテンツ管理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デフォルトでJSゼロ</a:t>
            </a:r>
            <a:r>
              <a:rPr dirty="0"/>
              <a:t> → </a:t>
            </a:r>
            <a:r>
              <a:rPr dirty="0" err="1"/>
              <a:t>表示速度が圧倒的に速い（Lighthouse</a:t>
            </a:r>
            <a:r>
              <a:rPr dirty="0"/>
              <a:t> 100点近く出やすい）</a:t>
            </a:r>
          </a:p>
          <a:p>
            <a:r>
              <a:rPr dirty="0"/>
              <a:t>  ・Content Collections + Zod で frontmatter </a:t>
            </a:r>
            <a:r>
              <a:rPr dirty="0" err="1"/>
              <a:t>のスキーマ検証が型レベルで保証される</a:t>
            </a:r>
            <a:endParaRPr dirty="0"/>
          </a:p>
          <a:p>
            <a:r>
              <a:rPr dirty="0"/>
              <a:t>  ・React/Vue/Svelte </a:t>
            </a:r>
            <a:r>
              <a:rPr dirty="0" err="1"/>
              <a:t>コンポーネントを部分的に混在可能（必要になっても拡張できる</a:t>
            </a:r>
            <a:r>
              <a:rPr dirty="0"/>
              <a:t>）</a:t>
            </a:r>
          </a:p>
          <a:p>
            <a:r>
              <a:rPr dirty="0"/>
              <a:t>  ・TypeScript strict </a:t>
            </a:r>
            <a:r>
              <a:rPr dirty="0" err="1"/>
              <a:t>モードで実装ミスをビルド時に検出</a:t>
            </a:r>
            <a:endParaRPr dirty="0"/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・v6 </a:t>
            </a:r>
            <a:r>
              <a:rPr dirty="0" err="1"/>
              <a:t>は比較的新しく、日本語情報が少ない</a:t>
            </a:r>
            <a:r>
              <a:rPr dirty="0"/>
              <a:t>（→ </a:t>
            </a:r>
            <a:r>
              <a:rPr dirty="0" err="1"/>
              <a:t>AI駆動開発で学習コストを相殺</a:t>
            </a:r>
            <a:r>
              <a:rPr dirty="0"/>
              <a:t>）</a:t>
            </a:r>
          </a:p>
          <a:p>
            <a:r>
              <a:rPr dirty="0"/>
              <a:t>  ・SSR </a:t>
            </a:r>
            <a:r>
              <a:rPr dirty="0" err="1"/>
              <a:t>が必要なケースには不向き（本サイトは静的なので問題なし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破壊的変更がメジャーバージョンで入りやすい（ViewTransitions</a:t>
            </a:r>
            <a:r>
              <a:rPr dirty="0"/>
              <a:t> → </a:t>
            </a:r>
            <a:r>
              <a:rPr dirty="0" err="1"/>
              <a:t>ClientRouter</a:t>
            </a:r>
            <a:r>
              <a:rPr dirty="0"/>
              <a:t> </a:t>
            </a:r>
            <a:r>
              <a:rPr dirty="0" err="1"/>
              <a:t>のリネーム等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STYLE: Scoped CSS + </a:t>
            </a:r>
            <a:r>
              <a:rPr dirty="0" err="1"/>
              <a:t>ダークモード</a:t>
            </a:r>
            <a:r>
              <a:rPr dirty="0"/>
              <a:t> + CSS Variables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CSS-in-JS </a:t>
            </a:r>
            <a:r>
              <a:rPr dirty="0" err="1"/>
              <a:t>のランタイムコストを避け、ビルド時に完結するスタイリング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 .astro </a:t>
            </a:r>
            <a:r>
              <a:rPr dirty="0" err="1"/>
              <a:t>ファイル内の</a:t>
            </a:r>
            <a:r>
              <a:rPr dirty="0"/>
              <a:t> &lt;style&gt; </a:t>
            </a:r>
            <a:r>
              <a:rPr dirty="0" err="1"/>
              <a:t>はデフォルトでスコープされ、クラス名が自動でハッシュ化される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追加ライブラリ不要（Tailwind</a:t>
            </a:r>
            <a:r>
              <a:rPr dirty="0"/>
              <a:t> </a:t>
            </a:r>
            <a:r>
              <a:rPr dirty="0" err="1"/>
              <a:t>等を入れずに済む</a:t>
            </a:r>
            <a:r>
              <a:rPr dirty="0"/>
              <a:t> = </a:t>
            </a:r>
            <a:r>
              <a:rPr dirty="0" err="1"/>
              <a:t>バンドル削減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コンポーネント単位でスタイルが閉じるため命名衝突なし</a:t>
            </a:r>
            <a:endParaRPr dirty="0"/>
          </a:p>
          <a:p>
            <a:r>
              <a:rPr dirty="0"/>
              <a:t>  ・CSS Variables（--color-primary </a:t>
            </a:r>
            <a:r>
              <a:rPr dirty="0" err="1"/>
              <a:t>等）で一元管理</a:t>
            </a:r>
            <a:r>
              <a:rPr dirty="0"/>
              <a:t> → </a:t>
            </a:r>
            <a:r>
              <a:rPr dirty="0" err="1"/>
              <a:t>ダークモード切替が瞬時</a:t>
            </a:r>
            <a:endParaRPr dirty="0"/>
          </a:p>
          <a:p>
            <a:r>
              <a:rPr dirty="0"/>
              <a:t>  ・scroll-behavior: smooth を1行書くだけで全アンカーがゼロJSで滑らか遷移</a:t>
            </a:r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グローバルスタイルは別途</a:t>
            </a:r>
            <a:r>
              <a:rPr dirty="0"/>
              <a:t> global.css </a:t>
            </a:r>
            <a:r>
              <a:rPr dirty="0" err="1"/>
              <a:t>に切り出す必要がある</a:t>
            </a:r>
            <a:endParaRPr dirty="0"/>
          </a:p>
          <a:p>
            <a:r>
              <a:rPr dirty="0"/>
              <a:t>  ・</a:t>
            </a:r>
            <a:r>
              <a:rPr dirty="0" err="1"/>
              <a:t>デザインシステム化（Tailwind</a:t>
            </a:r>
            <a:r>
              <a:rPr dirty="0"/>
              <a:t> </a:t>
            </a:r>
            <a:r>
              <a:rPr dirty="0" err="1"/>
              <a:t>等）には向かない（小規模サイトなので問題なし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ROUTING: </a:t>
            </a:r>
            <a:r>
              <a:rPr dirty="0" err="1"/>
              <a:t>ClientRouter</a:t>
            </a:r>
            <a:r>
              <a:rPr dirty="0"/>
              <a:t> (View Transitions API)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</a:t>
            </a:r>
            <a:r>
              <a:rPr dirty="0" err="1"/>
              <a:t>ページ遷移時の白フラッシュをなくし、SPA</a:t>
            </a:r>
            <a:r>
              <a:rPr dirty="0"/>
              <a:t> </a:t>
            </a:r>
            <a:r>
              <a:rPr dirty="0" err="1"/>
              <a:t>並みの体感を静的サイトで実現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 Astro v6 で </a:t>
            </a:r>
            <a:r>
              <a:rPr dirty="0" err="1"/>
              <a:t>ViewTransitions</a:t>
            </a:r>
            <a:r>
              <a:rPr dirty="0"/>
              <a:t> </a:t>
            </a:r>
            <a:r>
              <a:rPr dirty="0" err="1"/>
              <a:t>から</a:t>
            </a:r>
            <a:r>
              <a:rPr dirty="0"/>
              <a:t> </a:t>
            </a:r>
            <a:r>
              <a:rPr dirty="0" err="1"/>
              <a:t>ClientRouter</a:t>
            </a:r>
            <a:r>
              <a:rPr dirty="0"/>
              <a:t> </a:t>
            </a:r>
            <a:r>
              <a:rPr dirty="0" err="1"/>
              <a:t>に名称変更。ブラウザネイティブの</a:t>
            </a:r>
            <a:r>
              <a:rPr dirty="0"/>
              <a:t> View Transitions API </a:t>
            </a:r>
            <a:r>
              <a:rPr dirty="0" err="1"/>
              <a:t>を使う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・SPA </a:t>
            </a:r>
            <a:r>
              <a:rPr dirty="0" err="1"/>
              <a:t>フレームワーク不要で</a:t>
            </a:r>
            <a:r>
              <a:rPr dirty="0"/>
              <a:t> SPA </a:t>
            </a:r>
            <a:r>
              <a:rPr dirty="0" err="1"/>
              <a:t>風の遷移体験</a:t>
            </a:r>
            <a:endParaRPr dirty="0"/>
          </a:p>
          <a:p>
            <a:r>
              <a:rPr dirty="0"/>
              <a:t>  ・</a:t>
            </a:r>
            <a:r>
              <a:rPr dirty="0" err="1"/>
              <a:t>ページ間で</a:t>
            </a:r>
            <a:r>
              <a:rPr dirty="0"/>
              <a:t> &lt;head&gt; </a:t>
            </a:r>
            <a:r>
              <a:rPr dirty="0" err="1"/>
              <a:t>を差分更新するためメモリ効率が良い</a:t>
            </a:r>
            <a:endParaRPr dirty="0"/>
          </a:p>
          <a:p>
            <a:r>
              <a:rPr dirty="0"/>
              <a:t>  ・</a:t>
            </a:r>
            <a:r>
              <a:rPr dirty="0" err="1"/>
              <a:t>ダークモードのちらつき防止（astro:before-swap</a:t>
            </a:r>
            <a:r>
              <a:rPr dirty="0"/>
              <a:t> </a:t>
            </a:r>
            <a:r>
              <a:rPr dirty="0" err="1"/>
              <a:t>でテーマ適用</a:t>
            </a:r>
            <a:r>
              <a:rPr dirty="0"/>
              <a:t>）</a:t>
            </a:r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onClick</a:t>
            </a:r>
            <a:r>
              <a:rPr dirty="0"/>
              <a:t> </a:t>
            </a:r>
            <a:r>
              <a:rPr dirty="0" err="1"/>
              <a:t>等で動的に動かしている要素は</a:t>
            </a:r>
            <a:r>
              <a:rPr dirty="0"/>
              <a:t> data-astro-reload </a:t>
            </a:r>
            <a:r>
              <a:rPr dirty="0" err="1"/>
              <a:t>の付与が必要（互換性ハック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古いブラウザで</a:t>
            </a:r>
            <a:r>
              <a:rPr dirty="0"/>
              <a:t> View Transitions </a:t>
            </a:r>
            <a:r>
              <a:rPr dirty="0" err="1"/>
              <a:t>が動かない（フォールバックは用意される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ローカル開発時に</a:t>
            </a:r>
            <a:r>
              <a:rPr dirty="0"/>
              <a:t> Vite </a:t>
            </a:r>
            <a:r>
              <a:rPr dirty="0" err="1"/>
              <a:t>キャッシュとぶつかると</a:t>
            </a:r>
            <a:r>
              <a:rPr dirty="0"/>
              <a:t> 504 </a:t>
            </a:r>
            <a:r>
              <a:rPr dirty="0" err="1"/>
              <a:t>が出ることがある</a:t>
            </a:r>
            <a:endParaRPr dirty="0"/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QUALITY: </a:t>
            </a:r>
            <a:r>
              <a:rPr dirty="0" err="1"/>
              <a:t>vitest</a:t>
            </a:r>
            <a:r>
              <a:rPr dirty="0"/>
              <a:t> + astro check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</a:t>
            </a:r>
            <a:r>
              <a:rPr dirty="0" err="1"/>
              <a:t>ビルド時に型・構文・テストを一気に検証し、デプロイ前に欠陥を弾く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 </a:t>
            </a:r>
            <a:r>
              <a:rPr dirty="0" err="1"/>
              <a:t>vitest</a:t>
            </a:r>
            <a:r>
              <a:rPr dirty="0"/>
              <a:t> = Vite </a:t>
            </a:r>
            <a:r>
              <a:rPr dirty="0" err="1"/>
              <a:t>ネイティブの高速テストランナ</a:t>
            </a:r>
            <a:r>
              <a:rPr dirty="0"/>
              <a:t>ー。astro check = TypeScript + Astro </a:t>
            </a:r>
            <a:r>
              <a:rPr dirty="0" err="1"/>
              <a:t>構文の静的解析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vitest</a:t>
            </a:r>
            <a:r>
              <a:rPr dirty="0"/>
              <a:t> は jest </a:t>
            </a:r>
            <a:r>
              <a:rPr dirty="0" err="1"/>
              <a:t>互換</a:t>
            </a:r>
            <a:r>
              <a:rPr dirty="0"/>
              <a:t> API </a:t>
            </a:r>
            <a:r>
              <a:rPr dirty="0" err="1"/>
              <a:t>で学習コストほぼゼロ。実行が圧倒的に速い</a:t>
            </a:r>
            <a:endParaRPr dirty="0"/>
          </a:p>
          <a:p>
            <a:r>
              <a:rPr dirty="0"/>
              <a:t>  ・astro check で .astro </a:t>
            </a:r>
            <a:r>
              <a:rPr dirty="0" err="1"/>
              <a:t>ファイル内の式まで型チェックされる</a:t>
            </a:r>
            <a:endParaRPr dirty="0"/>
          </a:p>
          <a:p>
            <a:r>
              <a:rPr dirty="0"/>
              <a:t>  ・GitHub Actions で push </a:t>
            </a:r>
            <a:r>
              <a:rPr dirty="0" err="1"/>
              <a:t>毎に走らせ、失敗したらデプロイブロック</a:t>
            </a:r>
            <a:endParaRPr dirty="0"/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・E2E </a:t>
            </a:r>
            <a:r>
              <a:rPr dirty="0" err="1"/>
              <a:t>テスト（Playwright</a:t>
            </a:r>
            <a:r>
              <a:rPr dirty="0"/>
              <a:t> </a:t>
            </a:r>
            <a:r>
              <a:rPr dirty="0" err="1"/>
              <a:t>等）は別途必要（個人サイトなので単体テストで十分と判断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初回起動が少し遅い</a:t>
            </a:r>
            <a:endParaRPr dirty="0"/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CI/CD: GitHub Actions → GitHub Pages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Public </a:t>
            </a:r>
            <a:r>
              <a:rPr dirty="0" err="1"/>
              <a:t>リポジトリなら完全無料。Astro</a:t>
            </a:r>
            <a:r>
              <a:rPr dirty="0"/>
              <a:t> </a:t>
            </a:r>
            <a:r>
              <a:rPr dirty="0" err="1"/>
              <a:t>の公式アクションがある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 push </a:t>
            </a:r>
            <a:r>
              <a:rPr dirty="0" err="1"/>
              <a:t>時に</a:t>
            </a:r>
            <a:r>
              <a:rPr dirty="0"/>
              <a:t> actions/checkout → setup-node → astro build → deploy-pages の4ステップ。月次 </a:t>
            </a:r>
            <a:r>
              <a:rPr dirty="0" err="1"/>
              <a:t>cron</a:t>
            </a:r>
            <a:r>
              <a:rPr dirty="0"/>
              <a:t> で </a:t>
            </a:r>
            <a:r>
              <a:rPr dirty="0" err="1"/>
              <a:t>Qiita</a:t>
            </a:r>
            <a:r>
              <a:rPr dirty="0"/>
              <a:t> </a:t>
            </a:r>
            <a:r>
              <a:rPr dirty="0" err="1"/>
              <a:t>取得バッチ実行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ホスティング・ビルド・CDN・HTTPS</a:t>
            </a:r>
            <a:r>
              <a:rPr dirty="0"/>
              <a:t> </a:t>
            </a:r>
            <a:r>
              <a:rPr dirty="0" err="1"/>
              <a:t>が全て無料</a:t>
            </a:r>
            <a:endParaRPr dirty="0"/>
          </a:p>
          <a:p>
            <a:r>
              <a:rPr dirty="0"/>
              <a:t>  ・GitHub.io </a:t>
            </a:r>
            <a:r>
              <a:rPr dirty="0" err="1"/>
              <a:t>サブドメインでドメイン費もゼロ</a:t>
            </a:r>
            <a:endParaRPr dirty="0"/>
          </a:p>
          <a:p>
            <a:r>
              <a:rPr dirty="0"/>
              <a:t>  ・</a:t>
            </a:r>
            <a:r>
              <a:rPr dirty="0" err="1"/>
              <a:t>cron</a:t>
            </a:r>
            <a:r>
              <a:rPr dirty="0"/>
              <a:t> </a:t>
            </a:r>
            <a:r>
              <a:rPr dirty="0" err="1"/>
              <a:t>トリガーで定期ビルドができる（Qiita</a:t>
            </a:r>
            <a:r>
              <a:rPr dirty="0"/>
              <a:t> 記事を月1で再取得）</a:t>
            </a:r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・Public </a:t>
            </a:r>
            <a:r>
              <a:rPr dirty="0" err="1"/>
              <a:t>リポジトリ限定（コードが見えても良い前提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ビルド時間に上限あり（無料枠</a:t>
            </a:r>
            <a:r>
              <a:rPr dirty="0"/>
              <a:t> 2,000分/月、本サイトは1ビルド1分以下なので余裕）</a:t>
            </a:r>
          </a:p>
          <a:p>
            <a:r>
              <a:rPr dirty="0"/>
              <a:t>  ・</a:t>
            </a:r>
            <a:r>
              <a:rPr dirty="0" err="1"/>
              <a:t>カスタムドメインを使う場合は</a:t>
            </a:r>
            <a:r>
              <a:rPr dirty="0"/>
              <a:t> DNS </a:t>
            </a:r>
            <a:r>
              <a:rPr dirty="0" err="1"/>
              <a:t>設定が別途必要</a:t>
            </a:r>
            <a:endParaRPr dirty="0"/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■ </a:t>
            </a:r>
            <a:r>
              <a:rPr dirty="0" err="1"/>
              <a:t>外部連携</a:t>
            </a:r>
            <a:r>
              <a:rPr dirty="0"/>
              <a:t>: </a:t>
            </a:r>
            <a:r>
              <a:rPr dirty="0" err="1"/>
              <a:t>Qiita</a:t>
            </a:r>
            <a:r>
              <a:rPr dirty="0"/>
              <a:t> API / </a:t>
            </a:r>
            <a:r>
              <a:rPr dirty="0" err="1"/>
              <a:t>Formspree</a:t>
            </a:r>
            <a:r>
              <a:rPr dirty="0"/>
              <a:t> / Cloudflare Web Analytics</a:t>
            </a:r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[</a:t>
            </a:r>
            <a:r>
              <a:rPr dirty="0" err="1"/>
              <a:t>判断基準</a:t>
            </a:r>
            <a:r>
              <a:rPr dirty="0"/>
              <a:t>] 「</a:t>
            </a:r>
            <a:r>
              <a:rPr dirty="0" err="1"/>
              <a:t>ビルド時に取得して静的化」できるものは全て静的化。クライアントJSは最小限</a:t>
            </a:r>
            <a:r>
              <a:rPr dirty="0"/>
              <a:t>。</a:t>
            </a:r>
          </a:p>
          <a:p>
            <a:r>
              <a:rPr dirty="0"/>
              <a:t>[</a:t>
            </a:r>
            <a:r>
              <a:rPr dirty="0" err="1"/>
              <a:t>特徴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Qiita</a:t>
            </a:r>
            <a:r>
              <a:rPr dirty="0"/>
              <a:t> API: </a:t>
            </a:r>
            <a:r>
              <a:rPr dirty="0" err="1"/>
              <a:t>ビルド時</a:t>
            </a:r>
            <a:r>
              <a:rPr dirty="0"/>
              <a:t> fetch → likes + stocks*2 </a:t>
            </a:r>
            <a:r>
              <a:rPr dirty="0" err="1"/>
              <a:t>でスコアリング</a:t>
            </a:r>
            <a:r>
              <a:rPr dirty="0"/>
              <a:t> → 上位5件を HTML </a:t>
            </a:r>
            <a:r>
              <a:rPr dirty="0" err="1"/>
              <a:t>埋め込み</a:t>
            </a:r>
            <a:endParaRPr dirty="0"/>
          </a:p>
          <a:p>
            <a:r>
              <a:rPr dirty="0"/>
              <a:t>  ・</a:t>
            </a:r>
            <a:r>
              <a:rPr dirty="0" err="1"/>
              <a:t>Formspree</a:t>
            </a:r>
            <a:r>
              <a:rPr dirty="0"/>
              <a:t>: </a:t>
            </a:r>
            <a:r>
              <a:rPr dirty="0" err="1"/>
              <a:t>お問い合わせフォームのバックエンド代替。Honeypot</a:t>
            </a:r>
            <a:r>
              <a:rPr dirty="0"/>
              <a:t> </a:t>
            </a:r>
            <a:r>
              <a:rPr dirty="0" err="1"/>
              <a:t>でスパム対策</a:t>
            </a:r>
            <a:endParaRPr dirty="0"/>
          </a:p>
          <a:p>
            <a:r>
              <a:rPr dirty="0"/>
              <a:t>  ・Cloudflare Web Analytics: Cookie </a:t>
            </a:r>
            <a:r>
              <a:rPr dirty="0" err="1"/>
              <a:t>不要・GDPR</a:t>
            </a:r>
            <a:r>
              <a:rPr dirty="0"/>
              <a:t> </a:t>
            </a:r>
            <a:r>
              <a:rPr dirty="0" err="1"/>
              <a:t>対応の軽量アナリティクス</a:t>
            </a:r>
            <a:endParaRPr dirty="0"/>
          </a:p>
          <a:p>
            <a:r>
              <a:rPr dirty="0"/>
              <a:t>[</a:t>
            </a:r>
            <a:r>
              <a:rPr dirty="0" err="1"/>
              <a:t>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全て無料枠で運用可能（Qiita</a:t>
            </a:r>
            <a:r>
              <a:rPr dirty="0"/>
              <a:t> API </a:t>
            </a:r>
            <a:r>
              <a:rPr dirty="0" err="1"/>
              <a:t>は認証不要、Formspree</a:t>
            </a:r>
            <a:r>
              <a:rPr dirty="0"/>
              <a:t> 月50件、CF </a:t>
            </a:r>
            <a:r>
              <a:rPr dirty="0" err="1"/>
              <a:t>完全無料</a:t>
            </a:r>
            <a:r>
              <a:rPr dirty="0"/>
              <a:t>）</a:t>
            </a:r>
          </a:p>
          <a:p>
            <a:r>
              <a:rPr dirty="0"/>
              <a:t>  ・</a:t>
            </a:r>
            <a:r>
              <a:rPr dirty="0" err="1"/>
              <a:t>サーバーレス</a:t>
            </a:r>
            <a:r>
              <a:rPr dirty="0"/>
              <a:t> → </a:t>
            </a:r>
            <a:r>
              <a:rPr dirty="0" err="1"/>
              <a:t>バックエンド保守ゼロ</a:t>
            </a:r>
            <a:endParaRPr dirty="0"/>
          </a:p>
          <a:p>
            <a:r>
              <a:rPr dirty="0"/>
              <a:t>  ・</a:t>
            </a:r>
            <a:r>
              <a:rPr dirty="0" err="1"/>
              <a:t>Qiita</a:t>
            </a:r>
            <a:r>
              <a:rPr dirty="0"/>
              <a:t> </a:t>
            </a:r>
            <a:r>
              <a:rPr dirty="0" err="1"/>
              <a:t>記事は静的化されるため記事ページ自体の表示にAPI遅延が乗らない</a:t>
            </a:r>
            <a:endParaRPr dirty="0"/>
          </a:p>
          <a:p>
            <a:r>
              <a:rPr dirty="0"/>
              <a:t>[</a:t>
            </a:r>
            <a:r>
              <a:rPr dirty="0" err="1"/>
              <a:t>デメリット</a:t>
            </a:r>
            <a:r>
              <a:rPr dirty="0"/>
              <a:t>]</a:t>
            </a:r>
          </a:p>
          <a:p>
            <a:r>
              <a:rPr dirty="0"/>
              <a:t>  ・</a:t>
            </a:r>
            <a:r>
              <a:rPr dirty="0" err="1"/>
              <a:t>Qiita</a:t>
            </a:r>
            <a:r>
              <a:rPr dirty="0"/>
              <a:t> API </a:t>
            </a:r>
            <a:r>
              <a:rPr dirty="0" err="1"/>
              <a:t>はレートリミット・IPブロックがあり、ローカル</a:t>
            </a:r>
            <a:r>
              <a:rPr dirty="0"/>
              <a:t> fetch </a:t>
            </a:r>
            <a:r>
              <a:rPr dirty="0" err="1"/>
              <a:t>では</a:t>
            </a:r>
            <a:r>
              <a:rPr dirty="0"/>
              <a:t> 403 </a:t>
            </a:r>
            <a:r>
              <a:rPr dirty="0" err="1"/>
              <a:t>が出る場合がある</a:t>
            </a:r>
            <a:endParaRPr dirty="0"/>
          </a:p>
          <a:p>
            <a:r>
              <a:rPr dirty="0"/>
              <a:t>    → </a:t>
            </a:r>
            <a:r>
              <a:rPr dirty="0" err="1"/>
              <a:t>import.meta.env.PROD</a:t>
            </a:r>
            <a:r>
              <a:rPr dirty="0"/>
              <a:t> </a:t>
            </a:r>
            <a:r>
              <a:rPr dirty="0" err="1"/>
              <a:t>で本番ビルド時のみ実行する分岐で回避</a:t>
            </a:r>
            <a:endParaRPr dirty="0"/>
          </a:p>
          <a:p>
            <a:r>
              <a:rPr dirty="0"/>
              <a:t>  ・</a:t>
            </a:r>
            <a:r>
              <a:rPr dirty="0" err="1"/>
              <a:t>Formspree</a:t>
            </a:r>
            <a:r>
              <a:rPr dirty="0"/>
              <a:t> 無料枠は月50件まで（個人サイトなので十分）</a:t>
            </a:r>
          </a:p>
          <a:p>
            <a:r>
              <a:rPr dirty="0"/>
              <a:t>  ・Cloudflare Analytics は localhost で CORS </a:t>
            </a:r>
            <a:r>
              <a:rPr dirty="0" err="1"/>
              <a:t>エラーが出るが本番では問題なし</a:t>
            </a:r>
            <a:endParaRPr dirty="0"/>
          </a:p>
          <a:p>
            <a:endParaRPr dirty="0"/>
          </a:p>
          <a:p>
            <a:r>
              <a:rPr dirty="0"/>
              <a:t>────────────────────────────────────────</a:t>
            </a:r>
          </a:p>
          <a:p>
            <a:r>
              <a:rPr dirty="0"/>
              <a:t>【</a:t>
            </a:r>
            <a:r>
              <a:rPr dirty="0" err="1"/>
              <a:t>総合的な選定理由</a:t>
            </a:r>
            <a:r>
              <a:rPr dirty="0"/>
              <a:t>】</a:t>
            </a:r>
          </a:p>
          <a:p>
            <a:r>
              <a:rPr dirty="0"/>
              <a:t>これら6スタックの組み合わせは「無料 × </a:t>
            </a:r>
            <a:r>
              <a:rPr dirty="0" err="1"/>
              <a:t>高速</a:t>
            </a:r>
            <a:r>
              <a:rPr dirty="0"/>
              <a:t> × </a:t>
            </a:r>
            <a:r>
              <a:rPr dirty="0" err="1"/>
              <a:t>型安全</a:t>
            </a:r>
            <a:r>
              <a:rPr dirty="0"/>
              <a:t> × </a:t>
            </a:r>
            <a:r>
              <a:rPr dirty="0" err="1"/>
              <a:t>AI駆動開発との親和性」を全て満たす最小構成</a:t>
            </a:r>
            <a:r>
              <a:rPr dirty="0"/>
              <a:t>。</a:t>
            </a:r>
          </a:p>
          <a:p>
            <a:r>
              <a:rPr dirty="0" err="1"/>
              <a:t>特に</a:t>
            </a:r>
            <a:r>
              <a:rPr dirty="0"/>
              <a:t> Astro × Content Collections + Zod は AI </a:t>
            </a:r>
            <a:r>
              <a:rPr dirty="0" err="1"/>
              <a:t>にとって「型情報からコードを生成しやすい」構造であり</a:t>
            </a:r>
            <a:r>
              <a:rPr dirty="0"/>
              <a:t>、</a:t>
            </a:r>
          </a:p>
          <a:p>
            <a:r>
              <a:rPr dirty="0" err="1"/>
              <a:t>AI駆動開発の生産性を最大化する選択になっている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000" y="1500000"/>
            <a:ext cx="105916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</a:defRPr>
            </a:pPr>
            <a:r>
              <a:rPr sz="4000" dirty="0"/>
              <a:t>5年目フルスタックエンジニアの</a:t>
            </a:r>
            <a:endParaRPr lang="en-US" sz="4000" dirty="0"/>
          </a:p>
          <a:p>
            <a:pPr algn="ctr">
              <a:defRPr sz="3200" b="1">
                <a:solidFill>
                  <a:srgbClr val="60A5FA"/>
                </a:solidFill>
              </a:defRPr>
            </a:pPr>
            <a:r>
              <a:rPr sz="4000" dirty="0"/>
              <a:t>ポートフォリオ — 1サイトで実績を語る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2800000"/>
            <a:ext cx="105916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78BFA"/>
                </a:solidFill>
              </a:defRPr>
            </a:pPr>
            <a:r>
              <a:rPr dirty="0"/>
              <a:t>— HomePage 紹介 —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955EC4C-F238-485B-524B-B157C3AD8008}"/>
              </a:ext>
            </a:extLst>
          </p:cNvPr>
          <p:cNvSpPr txBox="1"/>
          <p:nvPr/>
        </p:nvSpPr>
        <p:spPr>
          <a:xfrm>
            <a:off x="800000" y="3563816"/>
            <a:ext cx="10591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78BFA"/>
                </a:solidFill>
              </a:defRPr>
            </a:pPr>
            <a:r>
              <a:rPr lang="ja-JP" altLang="en-US" dirty="0"/>
              <a:t>須山 哲平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sz="3600" dirty="0" err="1"/>
              <a:t>自己紹介</a:t>
            </a:r>
            <a:endParaRPr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795528" y="109728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234440"/>
            <a:ext cx="5166360" cy="47548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Yu Gothic UI"/>
              </a:rPr>
              <a:t>PROFILE</a:t>
            </a:r>
          </a:p>
          <a:p>
            <a:pPr algn="l"/>
            <a:r>
              <a:rPr sz="2000" b="1">
                <a:solidFill>
                  <a:srgbClr val="E2E8F0"/>
                </a:solidFill>
                <a:latin typeface="Yu Gothic UI"/>
              </a:rPr>
              <a:t>須山 哲平 (Teppei Suyama)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Yu Gothic UI"/>
              </a:rPr>
              <a:t>27歳 / IT業界 5年目 / フルスタックエンジニア</a:t>
            </a:r>
          </a:p>
          <a:p>
            <a:pPr algn="l"/>
            <a:endParaRPr sz="1300" b="0">
              <a:solidFill>
                <a:srgbClr val="94A3B8"/>
              </a:solidFill>
              <a:latin typeface="Yu Gothic UI"/>
            </a:endParaRPr>
          </a:p>
          <a:p>
            <a:pPr algn="l"/>
            <a:r>
              <a:rPr sz="1200" b="1">
                <a:solidFill>
                  <a:srgbClr val="A78BFA"/>
                </a:solidFill>
                <a:latin typeface="Yu Gothic UI"/>
              </a:rPr>
              <a:t>EXPERIENCE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Yu Gothic UI"/>
              </a:rPr>
              <a:t>• パッケージ開発（約3年）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Yu Gothic UI"/>
              </a:rPr>
              <a:t>• SES（現職 / フルスタック開発）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Yu Gothic UI"/>
              </a:rPr>
              <a:t>• 業務委託 副業（約1年）</a:t>
            </a:r>
          </a:p>
          <a:p>
            <a:pPr algn="l"/>
            <a:endParaRPr sz="1300" b="0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200" b="1">
                <a:solidFill>
                  <a:srgbClr val="A78BFA"/>
                </a:solidFill>
                <a:latin typeface="Yu Gothic UI"/>
              </a:rPr>
              <a:t>STRENGTH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Yu Gothic UI"/>
              </a:rPr>
              <a:t>✦ 上流工程 〜 実装 〜 運用までワンストップ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Yu Gothic UI"/>
              </a:rPr>
              <a:t>✦ AI駆動開発で短期スピード納品が可能</a:t>
            </a:r>
          </a:p>
          <a:p>
            <a:pPr algn="l"/>
            <a:r>
              <a:rPr sz="1400" b="1">
                <a:solidFill>
                  <a:srgbClr val="60A5FA"/>
                </a:solidFill>
                <a:latin typeface="Yu Gothic UI"/>
              </a:rPr>
              <a:t>✦ 技術選定・要件定義から伴走できる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097280"/>
            <a:ext cx="4992624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48272" y="1234440"/>
            <a:ext cx="4663440" cy="47548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Yu Gothic UI"/>
              </a:rPr>
              <a:t>MESSAGE</a:t>
            </a:r>
          </a:p>
          <a:p>
            <a:pPr algn="l"/>
            <a:r>
              <a:rPr sz="2000" b="1">
                <a:solidFill>
                  <a:srgbClr val="E2E8F0"/>
                </a:solidFill>
                <a:latin typeface="Yu Gothic UI"/>
              </a:rPr>
              <a:t>採用・経営の方へ</a:t>
            </a:r>
          </a:p>
          <a:p>
            <a:pPr algn="l"/>
            <a:endParaRPr sz="2000" b="1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500" b="0">
                <a:solidFill>
                  <a:srgbClr val="E2E8F0"/>
                </a:solidFill>
                <a:latin typeface="Yu Gothic UI"/>
              </a:rPr>
              <a:t>「何ができる人か」を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Yu Gothic UI"/>
              </a:rPr>
              <a:t>1サイトに集約しました</a:t>
            </a:r>
          </a:p>
          <a:p>
            <a:pPr algn="l"/>
            <a:endParaRPr sz="1500" b="0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300" b="0">
                <a:solidFill>
                  <a:srgbClr val="60A5FA"/>
                </a:solidFill>
                <a:latin typeface="Yu Gothic UI"/>
              </a:rPr>
              <a:t>✓ 経歴 / スキル / 資格</a:t>
            </a:r>
          </a:p>
          <a:p>
            <a:pPr algn="l"/>
            <a:r>
              <a:rPr sz="1300" b="0">
                <a:solidFill>
                  <a:srgbClr val="60A5FA"/>
                </a:solidFill>
                <a:latin typeface="Yu Gothic UI"/>
              </a:rPr>
              <a:t>✓ 個人開発プロダクト 3作</a:t>
            </a:r>
          </a:p>
          <a:p>
            <a:pPr algn="l"/>
            <a:r>
              <a:rPr sz="1300" b="0">
                <a:solidFill>
                  <a:srgbClr val="60A5FA"/>
                </a:solidFill>
                <a:latin typeface="Yu Gothic UI"/>
              </a:rPr>
              <a:t>✓ 参画プロジェクト 6件</a:t>
            </a:r>
          </a:p>
          <a:p>
            <a:pPr algn="l"/>
            <a:r>
              <a:rPr sz="1300" b="0">
                <a:solidFill>
                  <a:srgbClr val="60A5FA"/>
                </a:solidFill>
                <a:latin typeface="Yu Gothic UI"/>
              </a:rPr>
              <a:t>✓ 技術ブログ・エッセイ</a:t>
            </a:r>
          </a:p>
          <a:p>
            <a:pPr algn="l"/>
            <a:endParaRPr sz="1300" b="0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94A3B8"/>
                </a:solidFill>
                <a:latin typeface="Yu Gothic UI"/>
              </a:rPr>
              <a:t>5分で人物像が掴めます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29151" y="4003431"/>
            <a:ext cx="2061341" cy="20398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901459B-D6D4-46A1-AAA8-B335B069D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167" y="4081626"/>
            <a:ext cx="1821956" cy="1831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4B6DB73D-52D3-6295-AD46-E6C70C2BC6F8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ja-JP" altLang="en-US" sz="3600" dirty="0"/>
              <a:t>本資料の目的</a:t>
            </a:r>
            <a:endParaRPr sz="3600" dirty="0"/>
          </a:p>
        </p:txBody>
      </p:sp>
      <p:sp>
        <p:nvSpPr>
          <p:cNvPr id="43" name="Rounded Rectangle 42"/>
          <p:cNvSpPr/>
          <p:nvPr/>
        </p:nvSpPr>
        <p:spPr>
          <a:xfrm>
            <a:off x="795528" y="1097280"/>
            <a:ext cx="10588752" cy="2011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7280" y="1280160"/>
            <a:ext cx="10058400" cy="1737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Yu Gothic UI"/>
              </a:rPr>
              <a:t>MISSION</a:t>
            </a:r>
          </a:p>
          <a:p>
            <a:pPr algn="l"/>
            <a:r>
              <a:rPr sz="2000" b="1">
                <a:solidFill>
                  <a:srgbClr val="E2E8F0"/>
                </a:solidFill>
                <a:latin typeface="Yu Gothic UI"/>
              </a:rPr>
              <a:t>採用・業務委託の意思決定に必要な情報を、1サイトに凝縮してお届けする。</a:t>
            </a:r>
          </a:p>
          <a:p>
            <a:pPr algn="l"/>
            <a:endParaRPr sz="2000" b="1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Yu Gothic UI"/>
              </a:rPr>
              <a:t>履歴書だけでは「何ができる人か」「どんな考え方か」までは伝わりません。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Yu Gothic UI"/>
              </a:rPr>
              <a:t>HomePage には経歴・実績・思想・成果物を全て集約。5分で人物像が掴めます。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" y="3383280"/>
            <a:ext cx="3456432" cy="3017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8408" y="3520440"/>
            <a:ext cx="3090672" cy="2834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  <a:latin typeface="Yu Gothic UI"/>
              </a:rPr>
              <a:t>01</a:t>
            </a:r>
          </a:p>
          <a:p>
            <a:pPr algn="l"/>
            <a:r>
              <a:rPr sz="1800" b="1">
                <a:solidFill>
                  <a:srgbClr val="E2E8F0"/>
                </a:solidFill>
                <a:latin typeface="Yu Gothic UI"/>
              </a:rPr>
              <a:t>実績の見える化</a:t>
            </a:r>
          </a:p>
          <a:p>
            <a:pPr algn="l"/>
            <a:endParaRPr sz="1800" b="1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Yu Gothic UI"/>
              </a:rPr>
              <a:t>参画プロジェクト6件・個人開発3作を一覧公開。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3383280"/>
            <a:ext cx="3456432" cy="3017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26280" y="3520440"/>
            <a:ext cx="3090672" cy="2834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3600" b="1">
                <a:solidFill>
                  <a:srgbClr val="A78BFA"/>
                </a:solidFill>
                <a:latin typeface="Yu Gothic UI"/>
              </a:rPr>
              <a:t>02</a:t>
            </a:r>
          </a:p>
          <a:p>
            <a:pPr algn="l"/>
            <a:r>
              <a:rPr sz="1800" b="1">
                <a:solidFill>
                  <a:srgbClr val="E2E8F0"/>
                </a:solidFill>
                <a:latin typeface="Yu Gothic UI"/>
              </a:rPr>
              <a:t>人物像の伝達</a:t>
            </a:r>
          </a:p>
          <a:p>
            <a:pPr algn="l"/>
            <a:endParaRPr sz="1800" b="1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Yu Gothic UI"/>
              </a:rPr>
              <a:t>哲学・夢・座右の銘を言語化し、価値観を共有。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91271" y="3383280"/>
            <a:ext cx="3456432" cy="3017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74151" y="3520440"/>
            <a:ext cx="3090672" cy="2834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  <a:latin typeface="Yu Gothic UI"/>
              </a:rPr>
              <a:t>03</a:t>
            </a:r>
          </a:p>
          <a:p>
            <a:pPr algn="l"/>
            <a:r>
              <a:rPr sz="1800" b="1">
                <a:solidFill>
                  <a:srgbClr val="E2E8F0"/>
                </a:solidFill>
                <a:latin typeface="Yu Gothic UI"/>
              </a:rPr>
              <a:t>コミットメント</a:t>
            </a:r>
          </a:p>
          <a:p>
            <a:pPr algn="l"/>
            <a:endParaRPr sz="1800" b="1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300" b="0">
                <a:solidFill>
                  <a:srgbClr val="94A3B8"/>
                </a:solidFill>
                <a:latin typeface="Yu Gothic UI"/>
              </a:rPr>
              <a:t>技術ブログを継続発信。学び続ける姿勢を可視化。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980B0-04BD-D32B-99E6-7E4FE751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2665A0BF-B0B9-44DF-750B-3C171C5695DE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ja-JP" altLang="en-US" sz="3600" dirty="0"/>
              <a:t>HomePage の見どころ — 4ページで人物像を語る</a:t>
            </a:r>
            <a:endParaRPr sz="3600" dirty="0"/>
          </a:p>
        </p:txBody>
      </p:sp>
      <p:sp>
        <p:nvSpPr>
          <p:cNvPr id="43" name="TextBox 42"/>
          <p:cNvSpPr txBox="1"/>
          <p:nvPr/>
        </p:nvSpPr>
        <p:spPr>
          <a:xfrm>
            <a:off x="795528" y="914400"/>
            <a:ext cx="10588752" cy="4572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  <a:latin typeface="Yu Gothic UI"/>
              </a:rPr>
              <a:t>Profile / Project / Product / Blog の4ページが連動して人物像を描き出す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8" y="1508760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0120" y="1600200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PAGE 01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Profile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経歴をGitブランチ風SVGで可視化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スキル・資格・哲学を集約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1508760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07992" y="1600200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PAGE 02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Project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正社員・業務委託で参画した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プロジェクト6件を紹介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91271" y="1508760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55863" y="1600200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PAGE 03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Product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個人開発プロダクト3作を公開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ユメハシ / Defrago / HomePage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8" y="3310128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0120" y="3401568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PAGE 04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Blog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Work &amp; Dev / Essay / Tech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技術記事と思考を3軸で発信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3310128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07992" y="3401568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BONUS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Contact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業務委託・採用のご相談を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フォームから直接受付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91271" y="3310128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55863" y="3401568"/>
            <a:ext cx="3127248" cy="15087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POLICY</a:t>
            </a:r>
          </a:p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Always Updated</a:t>
            </a:r>
          </a:p>
          <a:p>
            <a:pPr algn="l"/>
            <a:endParaRPr sz="17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GitHub Pages で常時最新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Qiita 記事も自動連携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/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5528" y="5166360"/>
            <a:ext cx="10588752" cy="1508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0120" y="5285232"/>
            <a:ext cx="10332720" cy="1371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Yu Gothic UI"/>
              </a:rPr>
              <a:t>EVALUATION POINTS — HomePage から読み取れる3つの観点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Yu Gothic UI"/>
              </a:rPr>
              <a:t>● 技術力   ── サイト自体が成果物。Astro v6 + TypeScript で5日間で構築・公開済み。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Yu Gothic UI"/>
              </a:rPr>
              <a:t>● 自走力   ── 設計・実装・SEO・運用までワンストップで完遂する力を実証。</a:t>
            </a:r>
          </a:p>
          <a:p>
            <a:pPr algn="l"/>
            <a:r>
              <a:rPr sz="1300" b="0">
                <a:solidFill>
                  <a:srgbClr val="E2E8F0"/>
                </a:solidFill>
                <a:latin typeface="Yu Gothic UI"/>
              </a:rPr>
              <a:t>● 継続性   ── 個人開発3作・ブログ継続発信・資格取得 9件 で学習意欲を示しています。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418765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98E3C-C3EC-2FF6-D3C6-2F937DDEA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B77C1913-8E02-027A-CBF2-6E9D94CE835C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en-US" altLang="ja-JP" sz="3600" dirty="0"/>
              <a:t>Before: 履歴書だけで判断する場合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862634"/>
            <a:ext cx="32000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把握できる情報</a:t>
            </a:r>
            <a:endParaRPr dirty="0"/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rPr dirty="0"/>
              <a:t>学歴・職歴・資格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rPr dirty="0"/>
              <a:t>テキストベースで表面的な情報のみ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400000" y="862634"/>
            <a:ext cx="32000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人物像の理解</a:t>
            </a:r>
            <a:endParaRPr dirty="0"/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rPr dirty="0"/>
              <a:t>△ 限定的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rPr dirty="0" err="1"/>
              <a:t>価値観・思考プロセス・働き方は不明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000000" y="862634"/>
            <a:ext cx="3200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判断材料</a:t>
            </a:r>
            <a:endParaRPr dirty="0"/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rPr dirty="0"/>
              <a:t>面談 1〜2回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rPr dirty="0"/>
              <a:t>短時間で全容把握は困難</a:t>
            </a:r>
            <a:endParaRPr dirty="0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ECC17073-DC4C-40E8-7884-B38478D81C2E}"/>
              </a:ext>
            </a:extLst>
          </p:cNvPr>
          <p:cNvSpPr txBox="1"/>
          <p:nvPr/>
        </p:nvSpPr>
        <p:spPr>
          <a:xfrm>
            <a:off x="800000" y="3486074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en-US" altLang="ja-JP" sz="3600" dirty="0"/>
              <a:t>After: HomePage を見ていただいた場合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D620087E-C29C-3546-F47D-6A2C576A3074}"/>
              </a:ext>
            </a:extLst>
          </p:cNvPr>
          <p:cNvSpPr txBox="1"/>
          <p:nvPr/>
        </p:nvSpPr>
        <p:spPr>
          <a:xfrm>
            <a:off x="800000" y="4148708"/>
            <a:ext cx="320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把握できる情報</a:t>
            </a:r>
            <a:endParaRPr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513EE319-164D-7E99-05B6-652C8B8962E5}"/>
              </a:ext>
            </a:extLst>
          </p:cNvPr>
          <p:cNvSpPr txBox="1"/>
          <p:nvPr/>
        </p:nvSpPr>
        <p:spPr>
          <a:xfrm>
            <a:off x="4400000" y="4148708"/>
            <a:ext cx="320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人物像の理解</a:t>
            </a:r>
            <a:endParaRPr dirty="0"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49DD2101-DD33-1B64-4D0D-E27AFC080CCA}"/>
              </a:ext>
            </a:extLst>
          </p:cNvPr>
          <p:cNvSpPr txBox="1"/>
          <p:nvPr/>
        </p:nvSpPr>
        <p:spPr>
          <a:xfrm>
            <a:off x="8000000" y="4148708"/>
            <a:ext cx="320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endParaRPr dirty="0"/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rPr dirty="0" err="1"/>
              <a:t>判断材料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795528" y="4800600"/>
            <a:ext cx="3200400" cy="7772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3600" b="1">
                <a:solidFill>
                  <a:srgbClr val="60A5FA"/>
                </a:solidFill>
                <a:latin typeface="Yu Gothic UI"/>
              </a:rPr>
              <a:t>全方位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" y="5623560"/>
            <a:ext cx="3200400" cy="10058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経歴 + 実績 + 思考 +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成果物まで全て公開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98264" y="4800600"/>
            <a:ext cx="3200400" cy="7772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3600" b="1">
                <a:solidFill>
                  <a:srgbClr val="60A5FA"/>
                </a:solidFill>
                <a:latin typeface="Yu Gothic UI"/>
              </a:rPr>
              <a:t>◎ 深い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98264" y="5623560"/>
            <a:ext cx="3200400" cy="10058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哲学・夢・座右の銘で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価値観まで言語化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4800600"/>
            <a:ext cx="3200400" cy="7772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3600" b="1">
                <a:solidFill>
                  <a:srgbClr val="60A5FA"/>
                </a:solidFill>
                <a:latin typeface="Yu Gothic UI"/>
              </a:rPr>
              <a:t>事前に5分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5623560"/>
            <a:ext cx="3200400" cy="10058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面談前に人物像が掴める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Yu Gothic UI"/>
              </a:rPr>
              <a:t>→ 面談で本質的議論が可能</a:t>
            </a:r>
          </a:p>
        </p:txBody>
      </p:sp>
    </p:spTree>
    <p:extLst>
      <p:ext uri="{BB962C8B-B14F-4D97-AF65-F5344CB8AC3E}">
        <p14:creationId xmlns:p14="http://schemas.microsoft.com/office/powerpoint/2010/main" val="2721215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0F031-D546-1B86-302C-F3C146A5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27CEADF3-6776-A9AE-4D1C-77A7007F0A72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ja-JP" altLang="en-US" sz="3600" dirty="0"/>
              <a:t>履歴書だけ vs HomePage で見える情報の違い</a:t>
            </a:r>
            <a:endParaRPr sz="3600" dirty="0"/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795528" y="1097280"/>
          <a:ext cx="105887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観点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履歴書だけ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HomePage を見た場合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差分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経歴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テキスト箇条書き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Git ブランチ風 SVG で可視化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78BFA"/>
                          </a:solidFill>
                          <a:latin typeface="Yu Gothic UI"/>
                        </a:rPr>
                        <a:t>直感的に把握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スキル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リスト記載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実務年数 + 個人開発実績付き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78BFA"/>
                          </a:solidFill>
                          <a:latin typeface="Yu Gothic UI"/>
                        </a:rPr>
                        <a:t>信頼性が高い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人物像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面談で確認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哲学・夢・座右の銘を事前公開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78BFA"/>
                          </a:solidFill>
                          <a:latin typeface="Yu Gothic UI"/>
                        </a:rPr>
                        <a:t>面談前に把握可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実績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簡易説明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プロジェクト6件 + プロダクト3作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78BFA"/>
                          </a:solidFill>
                          <a:latin typeface="Yu Gothic UI"/>
                        </a:rPr>
                        <a:t>成果物に直接アクセス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技術力の証明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資格・経歴のみ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サイト自体が成果物（Astro v6）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78BFA"/>
                          </a:solidFill>
                          <a:latin typeface="Yu Gothic UI"/>
                        </a:rPr>
                        <a:t>実物で証明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継続性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見えにくい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Qiita / Blog で発信履歴を公開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78BFA"/>
                          </a:solidFill>
                          <a:latin typeface="Yu Gothic UI"/>
                        </a:rPr>
                        <a:t>学習意欲が可視化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更新性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PDF を都度送付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GitHub Pages で常時最新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78BFA"/>
                          </a:solidFill>
                          <a:latin typeface="Yu Gothic UI"/>
                        </a:rPr>
                        <a:t>情報鮮度◎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判断速度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30分〜1時間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5分で全容把握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78BFA"/>
                          </a:solidFill>
                          <a:latin typeface="Yu Gothic UI"/>
                        </a:rPr>
                        <a:t>工数 1/6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466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29CAC-D8D5-262B-33A2-5E3E3651D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2727FB2A-1ADC-F22E-D588-05CBF63512BA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en-US" altLang="ja-JP" sz="3600" dirty="0"/>
              <a:t>業務委託で提供できる価値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795528" y="1097280"/>
          <a:ext cx="685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メニュー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対応範囲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備考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要件定義 / 仕様検討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壁打ち〜文書化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AI を活用し短期で網羅性確保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設計・アーキテクチャ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技術選定 + 設計書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ロックイン回避を重視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フルスタック実装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Web / DB / API / 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Astro / FastAPI / .NET 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品質保証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テスト + CI/CD 構築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自動化を初日から組み込み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デプロイ・運用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GitHub Actions / Render 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サーバーレス前提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技術相談・PoC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短期スポット可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1案件あたり 2〜4 週間目安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稼働形態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業務委託（リモート）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Yu Gothic UI"/>
                        </a:rPr>
                        <a:t>週 8〜15h（平日夜 + 土日）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7909560" y="109728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92440" y="1280160"/>
            <a:ext cx="3200400" cy="4114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Yu Gothic UI"/>
              </a:rPr>
              <a:t>VALUE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Yu Gothic UI"/>
              </a:rPr>
              <a:t>私が提供できる価値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Yu Gothic UI"/>
              </a:rPr>
              <a:t/>
            </a:r>
          </a:p>
          <a:p>
            <a:pPr algn="l"/>
            <a:r>
              <a:rPr sz="1800" b="1">
                <a:solidFill>
                  <a:srgbClr val="60A5FA"/>
                </a:solidFill>
                <a:latin typeface="Yu Gothic UI"/>
              </a:rPr>
              <a:t>週稼働 8〜15h</a:t>
            </a:r>
            <a:endParaRPr sz="1100" b="0">
              <a:solidFill>
                <a:srgbClr val="94A3B8"/>
              </a:solidFill>
              <a:latin typeface="Yu Gothic UI"/>
            </a:endParaRPr>
          </a:p>
          <a:p>
            <a:pPr algn="l"/>
            <a:r>
              <a:rPr sz="1200" b="0">
                <a:solidFill>
                  <a:srgbClr val="94A3B8"/>
                </a:solidFill>
                <a:latin typeface="Yu Gothic UI"/>
              </a:rPr>
              <a:t>平日19時〜 + 土日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Yu Gothic UI"/>
              </a:rPr>
              <a:t/>
            </a:r>
            <a:endParaRPr sz="2400" b="1">
              <a:solidFill>
                <a:srgbClr val="94A3B8"/>
              </a:solidFill>
              <a:latin typeface="Yu Gothic UI"/>
            </a:endParaRPr>
          </a:p>
          <a:p>
            <a:pPr algn="l"/>
            <a:r>
              <a:rPr sz="1600" b="1">
                <a:solidFill>
                  <a:srgbClr val="FFFFFF"/>
                </a:solidFill>
                <a:latin typeface="Yu Gothic UI"/>
              </a:rPr>
              <a:t>上流から実装まで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Yu Gothic UI"/>
              </a:rPr>
              <a:t>ワンストップで対応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Yu Gothic UI"/>
              </a:rPr>
              <a:t/>
            </a:r>
            <a:endParaRPr sz="1100" b="0">
              <a:solidFill>
                <a:srgbClr val="94A3B8"/>
              </a:solidFill>
              <a:latin typeface="Yu Gothic UI"/>
            </a:endParaRPr>
          </a:p>
          <a:p>
            <a:pPr algn="l"/>
            <a:r>
              <a:rPr sz="1600" b="1">
                <a:solidFill>
                  <a:srgbClr val="60A5FA"/>
                </a:solidFill>
                <a:latin typeface="Yu Gothic UI"/>
              </a:rPr>
              <a:t>AI駆動開発で短納期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Yu Gothic UI"/>
              </a:rPr>
              <a:t>× 高品質を両立</a:t>
            </a:r>
            <a:endParaRPr sz="2600" b="1">
              <a:solidFill>
                <a:srgbClr val="60A5FA"/>
              </a:solidFill>
              <a:latin typeface="Yu Gothic UI"/>
            </a:endParaRPr>
          </a:p>
          <a:p>
            <a:pPr algn="l"/>
            <a:r>
              <a:rPr sz="600" b="0">
                <a:solidFill>
                  <a:srgbClr val="E2E8F0"/>
                </a:solidFill>
                <a:latin typeface="Yu Gothic UI"/>
              </a:rPr>
              <a:t/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Yu Gothic UI"/>
              </a:rPr>
              <a:t>稼働開始のご相談歓迎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" y="5669280"/>
            <a:ext cx="10588752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0120" y="5760720"/>
            <a:ext cx="10332720" cy="8229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Yu Gothic UI"/>
              </a:rPr>
              <a:t>🔑  AI駆動開発を組み合わせることで「少人数・短期間・低コスト」で本来3〜6ヶ月かかる開発を1ヶ月以内で実現します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Yu Gothic UI"/>
              </a:rPr>
              <a:t>ユメハシ・Defrago・HomePage の3作を全てAI駆動開発で完遂。「速く・正しく・継続的に」価値を出せる体制を構築済み。</a:t>
            </a:r>
          </a:p>
        </p:txBody>
      </p:sp>
    </p:spTree>
    <p:extLst>
      <p:ext uri="{BB962C8B-B14F-4D97-AF65-F5344CB8AC3E}">
        <p14:creationId xmlns:p14="http://schemas.microsoft.com/office/powerpoint/2010/main" val="1314748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44133-9C80-5155-0E91-0E8D3812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3BD072A2-FD0E-2F52-0C4E-8A2C9C01C1AC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en-US" altLang="ja-JP" sz="3600" dirty="0"/>
              <a:t>私の強み — 採用判断のポイント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960120"/>
            <a:ext cx="10588752" cy="502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  <a:latin typeface="Yu Gothic UI"/>
              </a:rPr>
              <a:t>AI駆動開発時代に求められる「人間にしかできない4つの力」を実践しています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8" y="1600200"/>
            <a:ext cx="5294376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" y="1737360"/>
            <a:ext cx="493776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Yu Gothic UI"/>
              </a:rPr>
              <a:t>💡  ビジネス視点 × 技術選定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2377440"/>
            <a:ext cx="4937760" cy="1600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「何を作るか」「なぜ作るか」を起点に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技術を選ぶ判断軸を持っています。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要件定義から実装まで一貫して伴走。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9904" y="1600200"/>
            <a:ext cx="5294376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72784" y="1737360"/>
            <a:ext cx="493776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Yu Gothic UI"/>
              </a:rPr>
              <a:t>🚀  学習速度 × 適応力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2377440"/>
            <a:ext cx="4937760" cy="1600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Astro v6 を初見で5日間で完遂。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未経験技術でも即戦力化できる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学習スピードと適応力を実証。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8" y="4160520"/>
            <a:ext cx="5294376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78408" y="4297680"/>
            <a:ext cx="493776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Yu Gothic UI"/>
              </a:rPr>
              <a:t>✨  品質意識 × 自走力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" y="4937759"/>
            <a:ext cx="4937760" cy="1600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テスト・型安全・SEO・セキュリティを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言われずに整備。指示待ちではなく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自分で品質ラインを引いて納品。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89904" y="4160520"/>
            <a:ext cx="5294376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72784" y="4297680"/>
            <a:ext cx="4937760" cy="5486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Yu Gothic UI"/>
              </a:rPr>
              <a:t>🤝  複数役割 × チーム協業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72784" y="4937759"/>
            <a:ext cx="4937760" cy="1600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PM / BA / Dev / QA を1人で回せる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個人開発経験があり、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小規模チームに即フィットします。</a:t>
            </a:r>
          </a:p>
        </p:txBody>
      </p:sp>
    </p:spTree>
    <p:extLst>
      <p:ext uri="{BB962C8B-B14F-4D97-AF65-F5344CB8AC3E}">
        <p14:creationId xmlns:p14="http://schemas.microsoft.com/office/powerpoint/2010/main" val="2941424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7B1DD-514B-23B1-E4CD-E5DED30F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>
            <a:extLst>
              <a:ext uri="{FF2B5EF4-FFF2-40B4-BE49-F238E27FC236}">
                <a16:creationId xmlns:a16="http://schemas.microsoft.com/office/drawing/2014/main" id="{92EACE4D-4449-EE0A-8FF0-604D3F9E6FFF}"/>
              </a:ext>
            </a:extLst>
          </p:cNvPr>
          <p:cNvSpPr txBox="1"/>
          <p:nvPr/>
        </p:nvSpPr>
        <p:spPr>
          <a:xfrm>
            <a:off x="800000" y="200000"/>
            <a:ext cx="10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rPr lang="ja-JP" altLang="en-US" sz="3600" dirty="0"/>
              <a:t>なぜこのホームページを作ったのか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" y="1097280"/>
            <a:ext cx="10588752" cy="1920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7280" y="1280160"/>
            <a:ext cx="1005840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Yu Gothic UI"/>
              </a:rPr>
              <a:t>WHY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Yu Gothic UI"/>
              </a:rPr>
              <a:t>「自分の全てを 1 サイトに集約したかった。」</a:t>
            </a:r>
          </a:p>
          <a:p>
            <a:pPr algn="l"/>
            <a:endParaRPr sz="2200" b="1">
              <a:solidFill>
                <a:srgbClr val="E2E8F0"/>
              </a:solidFill>
              <a:latin typeface="Yu Gothic UI"/>
            </a:endParaRPr>
          </a:p>
          <a:p>
            <a:pPr algn="l"/>
            <a:r>
              <a:rPr sz="1400" b="0">
                <a:solidFill>
                  <a:srgbClr val="94A3B8"/>
                </a:solidFill>
                <a:latin typeface="Yu Gothic UI"/>
              </a:rPr>
              <a:t>履歴書 PDF だけでは伝えきれない経歴・実績・思想・成果物を、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Yu Gothic UI"/>
              </a:rPr>
              <a:t>1 つの URL で渡せるようにしたい。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Yu Gothic UI"/>
              </a:rPr>
              <a:t>私という「人材」の全体像を最短時間で把握していただける場所が欲しかった。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" y="3246120"/>
            <a:ext cx="3456432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8408" y="3383280"/>
            <a:ext cx="3108960" cy="594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📄  経歴を一目で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" y="4023360"/>
            <a:ext cx="310896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Git ブランチ風 SVG で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5年間のキャリアと所属を可視化。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PDF より直感的に伝わります。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98264" y="3246120"/>
            <a:ext cx="3456432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81144" y="3383280"/>
            <a:ext cx="3108960" cy="594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💼  実績を網羅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81144" y="4023360"/>
            <a:ext cx="310896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個人プロダクト 3作 +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参画プロジェクト 6件を公開。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成果物に直接アクセスできます。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01000" y="3246120"/>
            <a:ext cx="3456432" cy="2468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383280"/>
            <a:ext cx="3108960" cy="5943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Yu Gothic UI"/>
              </a:rPr>
              <a:t>💭  思想・価値観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4023360"/>
            <a:ext cx="310896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哲学・夢・座右の銘を言語化。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「どう働きたいか」「何を大切にするか」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Yu Gothic UI"/>
              </a:rPr>
              <a:t>を事前にご理解いただけます。</a:t>
            </a:r>
          </a:p>
        </p:txBody>
      </p:sp>
    </p:spTree>
    <p:extLst>
      <p:ext uri="{BB962C8B-B14F-4D97-AF65-F5344CB8AC3E}">
        <p14:creationId xmlns:p14="http://schemas.microsoft.com/office/powerpoint/2010/main" val="3572193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1554</Words>
  <Application>Microsoft Office PowerPoint</Application>
  <PresentationFormat>ワイド画面</PresentationFormat>
  <Paragraphs>325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Yu Gothic UI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Suyama Teppei</cp:lastModifiedBy>
  <cp:revision>7</cp:revision>
  <dcterms:created xsi:type="dcterms:W3CDTF">2013-01-27T09:14:16Z</dcterms:created>
  <dcterms:modified xsi:type="dcterms:W3CDTF">2026-04-08T03:20:08Z</dcterms:modified>
  <cp:category/>
</cp:coreProperties>
</file>