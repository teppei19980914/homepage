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66" r:id="rId5"/>
    <p:sldId id="267" r:id="rId6"/>
    <p:sldId id="268" r:id="rId7"/>
    <p:sldId id="269" r:id="rId8"/>
    <p:sldId id="270" r:id="rId9"/>
    <p:sldId id="271" r:id="rId10"/>
    <p:sldId id="27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457" autoAdjust="0"/>
  </p:normalViewPr>
  <p:slideViewPr>
    <p:cSldViewPr snapToGrid="0" snapToObjects="1">
      <p:cViewPr varScale="1">
        <p:scale>
          <a:sx n="159" d="100"/>
          <a:sy n="159" d="100"/>
        </p:scale>
        <p:origin x="336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90508-11FE-4107-B12B-FCBF7DE7140E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D1D6-3BC6-4DF1-B693-2708FA1216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5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技術選定の判断基準</a:t>
            </a:r>
            <a:r>
              <a:rPr dirty="0"/>
              <a:t>】</a:t>
            </a:r>
          </a:p>
          <a:p>
            <a:r>
              <a:rPr dirty="0" err="1"/>
              <a:t>本サイトは「個人のホームページ</a:t>
            </a:r>
            <a:r>
              <a:rPr dirty="0"/>
              <a:t> = </a:t>
            </a:r>
            <a:r>
              <a:rPr dirty="0" err="1"/>
              <a:t>静的コンテンツ中心</a:t>
            </a:r>
            <a:r>
              <a:rPr dirty="0"/>
              <a:t>」「</a:t>
            </a:r>
            <a:r>
              <a:rPr dirty="0" err="1"/>
              <a:t>無料運用</a:t>
            </a:r>
            <a:r>
              <a:rPr dirty="0"/>
              <a:t>」「</a:t>
            </a:r>
            <a:r>
              <a:rPr dirty="0" err="1"/>
              <a:t>SEO重視</a:t>
            </a:r>
            <a:r>
              <a:rPr dirty="0"/>
              <a:t>」「</a:t>
            </a:r>
            <a:r>
              <a:rPr dirty="0" err="1"/>
              <a:t>個人開発で保守可能」を前提に技術を選定</a:t>
            </a:r>
            <a:r>
              <a:rPr dirty="0"/>
              <a:t>。</a:t>
            </a:r>
          </a:p>
          <a:p>
            <a:r>
              <a:rPr dirty="0" err="1"/>
              <a:t>判断軸は</a:t>
            </a:r>
            <a:r>
              <a:rPr dirty="0"/>
              <a:t> ① </a:t>
            </a:r>
            <a:r>
              <a:rPr dirty="0" err="1"/>
              <a:t>学習コスト</a:t>
            </a:r>
            <a:r>
              <a:rPr dirty="0"/>
              <a:t> ② </a:t>
            </a:r>
            <a:r>
              <a:rPr dirty="0" err="1"/>
              <a:t>運用コスト</a:t>
            </a:r>
            <a:r>
              <a:rPr dirty="0"/>
              <a:t> ③ </a:t>
            </a:r>
            <a:r>
              <a:rPr dirty="0" err="1"/>
              <a:t>AIとの相性</a:t>
            </a:r>
            <a:r>
              <a:rPr dirty="0"/>
              <a:t>（=</a:t>
            </a:r>
            <a:r>
              <a:rPr dirty="0" err="1"/>
              <a:t>コード生成しやすさ</a:t>
            </a:r>
            <a:r>
              <a:rPr dirty="0"/>
              <a:t>） ④ </a:t>
            </a:r>
            <a:r>
              <a:rPr dirty="0" err="1"/>
              <a:t>ロックインの少なさ</a:t>
            </a:r>
            <a:r>
              <a:rPr dirty="0"/>
              <a:t> ⑤ </a:t>
            </a:r>
            <a:r>
              <a:rPr dirty="0" err="1"/>
              <a:t>パフォーマンス（TTFB</a:t>
            </a:r>
            <a:r>
              <a:rPr dirty="0"/>
              <a:t> / Lighthouse）。</a:t>
            </a:r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WEB: Astro v6 + TypeScript (strict) + Content Collections + Zod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</a:t>
            </a:r>
            <a:r>
              <a:rPr dirty="0" err="1"/>
              <a:t>静的サイトに最適化されたフレームワーク。Islands</a:t>
            </a:r>
            <a:r>
              <a:rPr dirty="0"/>
              <a:t> Architecture </a:t>
            </a:r>
            <a:r>
              <a:rPr dirty="0" err="1"/>
              <a:t>によりJSバンドルを最小化できる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.astro </a:t>
            </a:r>
            <a:r>
              <a:rPr dirty="0" err="1"/>
              <a:t>ファイルで</a:t>
            </a:r>
            <a:r>
              <a:rPr dirty="0"/>
              <a:t> HTML/CSS/JS を1ファイルに集約。MDX対応。Content Collections </a:t>
            </a:r>
            <a:r>
              <a:rPr dirty="0" err="1"/>
              <a:t>で型安全なコンテンツ管理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デフォルトでJSゼロ</a:t>
            </a:r>
            <a:r>
              <a:rPr dirty="0"/>
              <a:t> → </a:t>
            </a:r>
            <a:r>
              <a:rPr dirty="0" err="1"/>
              <a:t>表示速度が圧倒的に速い（Lighthouse</a:t>
            </a:r>
            <a:r>
              <a:rPr dirty="0"/>
              <a:t> 100点近く出やすい）</a:t>
            </a:r>
          </a:p>
          <a:p>
            <a:r>
              <a:rPr dirty="0"/>
              <a:t>  ・Content Collections + Zod で frontmatter </a:t>
            </a:r>
            <a:r>
              <a:rPr dirty="0" err="1"/>
              <a:t>のスキーマ検証が型レベルで保証される</a:t>
            </a:r>
            <a:endParaRPr dirty="0"/>
          </a:p>
          <a:p>
            <a:r>
              <a:rPr dirty="0"/>
              <a:t>  ・React/Vue/Svelte </a:t>
            </a:r>
            <a:r>
              <a:rPr dirty="0" err="1"/>
              <a:t>コンポーネントを部分的に混在可能（必要になっても拡張できる</a:t>
            </a:r>
            <a:r>
              <a:rPr dirty="0"/>
              <a:t>）</a:t>
            </a:r>
          </a:p>
          <a:p>
            <a:r>
              <a:rPr dirty="0"/>
              <a:t>  ・TypeScript strict </a:t>
            </a:r>
            <a:r>
              <a:rPr dirty="0" err="1"/>
              <a:t>モードで実装ミスをビルド時に検出</a:t>
            </a:r>
            <a:endParaRPr dirty="0"/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・v6 </a:t>
            </a:r>
            <a:r>
              <a:rPr dirty="0" err="1"/>
              <a:t>は比較的新しく、日本語情報が少ない</a:t>
            </a:r>
            <a:r>
              <a:rPr dirty="0"/>
              <a:t>（→ </a:t>
            </a:r>
            <a:r>
              <a:rPr dirty="0" err="1"/>
              <a:t>AI駆動開発で学習コストを相殺</a:t>
            </a:r>
            <a:r>
              <a:rPr dirty="0"/>
              <a:t>）</a:t>
            </a:r>
          </a:p>
          <a:p>
            <a:r>
              <a:rPr dirty="0"/>
              <a:t>  ・SSR </a:t>
            </a:r>
            <a:r>
              <a:rPr dirty="0" err="1"/>
              <a:t>が必要なケースには不向き（本サイトは静的なので問題なし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破壊的変更がメジャーバージョンで入りやすい（ViewTransitions</a:t>
            </a:r>
            <a:r>
              <a:rPr dirty="0"/>
              <a:t> → </a:t>
            </a:r>
            <a:r>
              <a:rPr dirty="0" err="1"/>
              <a:t>ClientRouter</a:t>
            </a:r>
            <a:r>
              <a:rPr dirty="0"/>
              <a:t> </a:t>
            </a:r>
            <a:r>
              <a:rPr dirty="0" err="1"/>
              <a:t>のリネーム等</a:t>
            </a:r>
            <a:r>
              <a:rPr dirty="0"/>
              <a:t>）</a:t>
            </a:r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STYLE: Scoped CSS + </a:t>
            </a:r>
            <a:r>
              <a:rPr dirty="0" err="1"/>
              <a:t>ダークモード</a:t>
            </a:r>
            <a:r>
              <a:rPr dirty="0"/>
              <a:t> + CSS Variables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CSS-in-JS </a:t>
            </a:r>
            <a:r>
              <a:rPr dirty="0" err="1"/>
              <a:t>のランタイムコストを避け、ビルド時に完結するスタイリング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.astro </a:t>
            </a:r>
            <a:r>
              <a:rPr dirty="0" err="1"/>
              <a:t>ファイル内の</a:t>
            </a:r>
            <a:r>
              <a:rPr dirty="0"/>
              <a:t> &lt;style&gt; </a:t>
            </a:r>
            <a:r>
              <a:rPr dirty="0" err="1"/>
              <a:t>はデフォルトでスコープされ、クラス名が自動でハッシュ化される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追加ライブラリ不要（Tailwind</a:t>
            </a:r>
            <a:r>
              <a:rPr dirty="0"/>
              <a:t> </a:t>
            </a:r>
            <a:r>
              <a:rPr dirty="0" err="1"/>
              <a:t>等を入れずに済む</a:t>
            </a:r>
            <a:r>
              <a:rPr dirty="0"/>
              <a:t> = </a:t>
            </a:r>
            <a:r>
              <a:rPr dirty="0" err="1"/>
              <a:t>バンドル削減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コンポーネント単位でスタイルが閉じるため命名衝突なし</a:t>
            </a:r>
            <a:endParaRPr dirty="0"/>
          </a:p>
          <a:p>
            <a:r>
              <a:rPr dirty="0"/>
              <a:t>  ・CSS Variables（--color-primary </a:t>
            </a:r>
            <a:r>
              <a:rPr dirty="0" err="1"/>
              <a:t>等）で一元管理</a:t>
            </a:r>
            <a:r>
              <a:rPr dirty="0"/>
              <a:t> → </a:t>
            </a:r>
            <a:r>
              <a:rPr dirty="0" err="1"/>
              <a:t>ダークモード切替が瞬時</a:t>
            </a:r>
            <a:endParaRPr dirty="0"/>
          </a:p>
          <a:p>
            <a:r>
              <a:rPr dirty="0"/>
              <a:t>  ・scroll-behavior: smooth を1行書くだけで全アンカーがゼロJSで滑らか遷移</a:t>
            </a:r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グローバルスタイルは別途</a:t>
            </a:r>
            <a:r>
              <a:rPr dirty="0"/>
              <a:t> global.css </a:t>
            </a:r>
            <a:r>
              <a:rPr dirty="0" err="1"/>
              <a:t>に切り出す必要がある</a:t>
            </a:r>
            <a:endParaRPr dirty="0"/>
          </a:p>
          <a:p>
            <a:r>
              <a:rPr dirty="0"/>
              <a:t>  ・</a:t>
            </a:r>
            <a:r>
              <a:rPr dirty="0" err="1"/>
              <a:t>デザインシステム化（Tailwind</a:t>
            </a:r>
            <a:r>
              <a:rPr dirty="0"/>
              <a:t> </a:t>
            </a:r>
            <a:r>
              <a:rPr dirty="0" err="1"/>
              <a:t>等）には向かない（小規模サイトなので問題なし</a:t>
            </a:r>
            <a:r>
              <a:rPr dirty="0"/>
              <a:t>）</a:t>
            </a:r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ROUTING: </a:t>
            </a:r>
            <a:r>
              <a:rPr dirty="0" err="1"/>
              <a:t>ClientRouter</a:t>
            </a:r>
            <a:r>
              <a:rPr dirty="0"/>
              <a:t> (View Transitions API)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</a:t>
            </a:r>
            <a:r>
              <a:rPr dirty="0" err="1"/>
              <a:t>ページ遷移時の白フラッシュをなくし、SPA</a:t>
            </a:r>
            <a:r>
              <a:rPr dirty="0"/>
              <a:t> </a:t>
            </a:r>
            <a:r>
              <a:rPr dirty="0" err="1"/>
              <a:t>並みの体感を静的サイトで実現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Astro v6 で </a:t>
            </a:r>
            <a:r>
              <a:rPr dirty="0" err="1"/>
              <a:t>ViewTransitions</a:t>
            </a:r>
            <a:r>
              <a:rPr dirty="0"/>
              <a:t> </a:t>
            </a:r>
            <a:r>
              <a:rPr dirty="0" err="1"/>
              <a:t>から</a:t>
            </a:r>
            <a:r>
              <a:rPr dirty="0"/>
              <a:t> </a:t>
            </a:r>
            <a:r>
              <a:rPr dirty="0" err="1"/>
              <a:t>ClientRouter</a:t>
            </a:r>
            <a:r>
              <a:rPr dirty="0"/>
              <a:t> </a:t>
            </a:r>
            <a:r>
              <a:rPr dirty="0" err="1"/>
              <a:t>に名称変更。ブラウザネイティブの</a:t>
            </a:r>
            <a:r>
              <a:rPr dirty="0"/>
              <a:t> View Transitions API </a:t>
            </a:r>
            <a:r>
              <a:rPr dirty="0" err="1"/>
              <a:t>を使う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・SPA </a:t>
            </a:r>
            <a:r>
              <a:rPr dirty="0" err="1"/>
              <a:t>フレームワーク不要で</a:t>
            </a:r>
            <a:r>
              <a:rPr dirty="0"/>
              <a:t> SPA </a:t>
            </a:r>
            <a:r>
              <a:rPr dirty="0" err="1"/>
              <a:t>風の遷移体験</a:t>
            </a:r>
            <a:endParaRPr dirty="0"/>
          </a:p>
          <a:p>
            <a:r>
              <a:rPr dirty="0"/>
              <a:t>  ・</a:t>
            </a:r>
            <a:r>
              <a:rPr dirty="0" err="1"/>
              <a:t>ページ間で</a:t>
            </a:r>
            <a:r>
              <a:rPr dirty="0"/>
              <a:t> &lt;head&gt; </a:t>
            </a:r>
            <a:r>
              <a:rPr dirty="0" err="1"/>
              <a:t>を差分更新するためメモリ効率が良い</a:t>
            </a:r>
            <a:endParaRPr dirty="0"/>
          </a:p>
          <a:p>
            <a:r>
              <a:rPr dirty="0"/>
              <a:t>  ・</a:t>
            </a:r>
            <a:r>
              <a:rPr dirty="0" err="1"/>
              <a:t>ダークモードのちらつき防止（astro:before-swap</a:t>
            </a:r>
            <a:r>
              <a:rPr dirty="0"/>
              <a:t> </a:t>
            </a:r>
            <a:r>
              <a:rPr dirty="0" err="1"/>
              <a:t>でテーマ適用</a:t>
            </a:r>
            <a:r>
              <a:rPr dirty="0"/>
              <a:t>）</a:t>
            </a:r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onClick</a:t>
            </a:r>
            <a:r>
              <a:rPr dirty="0"/>
              <a:t> </a:t>
            </a:r>
            <a:r>
              <a:rPr dirty="0" err="1"/>
              <a:t>等で動的に動かしている要素は</a:t>
            </a:r>
            <a:r>
              <a:rPr dirty="0"/>
              <a:t> data-astro-reload </a:t>
            </a:r>
            <a:r>
              <a:rPr dirty="0" err="1"/>
              <a:t>の付与が必要（互換性ハック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古いブラウザで</a:t>
            </a:r>
            <a:r>
              <a:rPr dirty="0"/>
              <a:t> View Transitions </a:t>
            </a:r>
            <a:r>
              <a:rPr dirty="0" err="1"/>
              <a:t>が動かない（フォールバックは用意される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ローカル開発時に</a:t>
            </a:r>
            <a:r>
              <a:rPr dirty="0"/>
              <a:t> Vite </a:t>
            </a:r>
            <a:r>
              <a:rPr dirty="0" err="1"/>
              <a:t>キャッシュとぶつかると</a:t>
            </a:r>
            <a:r>
              <a:rPr dirty="0"/>
              <a:t> 504 </a:t>
            </a:r>
            <a:r>
              <a:rPr dirty="0" err="1"/>
              <a:t>が出ることがある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QUALITY: </a:t>
            </a:r>
            <a:r>
              <a:rPr dirty="0" err="1"/>
              <a:t>vitest</a:t>
            </a:r>
            <a:r>
              <a:rPr dirty="0"/>
              <a:t> + astro check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</a:t>
            </a:r>
            <a:r>
              <a:rPr dirty="0" err="1"/>
              <a:t>ビルド時に型・構文・テストを一気に検証し、デプロイ前に欠陥を弾く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</a:t>
            </a:r>
            <a:r>
              <a:rPr dirty="0" err="1"/>
              <a:t>vitest</a:t>
            </a:r>
            <a:r>
              <a:rPr dirty="0"/>
              <a:t> = Vite </a:t>
            </a:r>
            <a:r>
              <a:rPr dirty="0" err="1"/>
              <a:t>ネイティブの高速テストランナ</a:t>
            </a:r>
            <a:r>
              <a:rPr dirty="0"/>
              <a:t>ー。astro check = TypeScript + Astro </a:t>
            </a:r>
            <a:r>
              <a:rPr dirty="0" err="1"/>
              <a:t>構文の静的解析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vitest</a:t>
            </a:r>
            <a:r>
              <a:rPr dirty="0"/>
              <a:t> は jest </a:t>
            </a:r>
            <a:r>
              <a:rPr dirty="0" err="1"/>
              <a:t>互換</a:t>
            </a:r>
            <a:r>
              <a:rPr dirty="0"/>
              <a:t> API </a:t>
            </a:r>
            <a:r>
              <a:rPr dirty="0" err="1"/>
              <a:t>で学習コストほぼゼロ。実行が圧倒的に速い</a:t>
            </a:r>
            <a:endParaRPr dirty="0"/>
          </a:p>
          <a:p>
            <a:r>
              <a:rPr dirty="0"/>
              <a:t>  ・astro check で .astro </a:t>
            </a:r>
            <a:r>
              <a:rPr dirty="0" err="1"/>
              <a:t>ファイル内の式まで型チェックされる</a:t>
            </a:r>
            <a:endParaRPr dirty="0"/>
          </a:p>
          <a:p>
            <a:r>
              <a:rPr dirty="0"/>
              <a:t>  ・GitHub Actions で push </a:t>
            </a:r>
            <a:r>
              <a:rPr dirty="0" err="1"/>
              <a:t>毎に走らせ、失敗したらデプロイブロック</a:t>
            </a:r>
            <a:endParaRPr dirty="0"/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・E2E </a:t>
            </a:r>
            <a:r>
              <a:rPr dirty="0" err="1"/>
              <a:t>テスト（Playwright</a:t>
            </a:r>
            <a:r>
              <a:rPr dirty="0"/>
              <a:t> </a:t>
            </a:r>
            <a:r>
              <a:rPr dirty="0" err="1"/>
              <a:t>等）は別途必要（個人サイトなので単体テストで十分と判断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初回起動が少し遅い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CI/CD: GitHub Actions → GitHub Pages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Public </a:t>
            </a:r>
            <a:r>
              <a:rPr dirty="0" err="1"/>
              <a:t>リポジトリなら完全無料。Astro</a:t>
            </a:r>
            <a:r>
              <a:rPr dirty="0"/>
              <a:t> </a:t>
            </a:r>
            <a:r>
              <a:rPr dirty="0" err="1"/>
              <a:t>の公式アクションがある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push </a:t>
            </a:r>
            <a:r>
              <a:rPr dirty="0" err="1"/>
              <a:t>時に</a:t>
            </a:r>
            <a:r>
              <a:rPr dirty="0"/>
              <a:t> actions/checkout → setup-node → astro build → deploy-pages の4ステップ。月次 </a:t>
            </a:r>
            <a:r>
              <a:rPr dirty="0" err="1"/>
              <a:t>cron</a:t>
            </a:r>
            <a:r>
              <a:rPr dirty="0"/>
              <a:t> で </a:t>
            </a:r>
            <a:r>
              <a:rPr dirty="0" err="1"/>
              <a:t>Qiita</a:t>
            </a:r>
            <a:r>
              <a:rPr dirty="0"/>
              <a:t> </a:t>
            </a:r>
            <a:r>
              <a:rPr dirty="0" err="1"/>
              <a:t>取得バッチ実行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ホスティング・ビルド・CDN・HTTPS</a:t>
            </a:r>
            <a:r>
              <a:rPr dirty="0"/>
              <a:t> </a:t>
            </a:r>
            <a:r>
              <a:rPr dirty="0" err="1"/>
              <a:t>が全て無料</a:t>
            </a:r>
            <a:endParaRPr dirty="0"/>
          </a:p>
          <a:p>
            <a:r>
              <a:rPr dirty="0"/>
              <a:t>  ・GitHub.io </a:t>
            </a:r>
            <a:r>
              <a:rPr dirty="0" err="1"/>
              <a:t>サブドメインでドメイン費もゼロ</a:t>
            </a:r>
            <a:endParaRPr dirty="0"/>
          </a:p>
          <a:p>
            <a:r>
              <a:rPr dirty="0"/>
              <a:t>  ・</a:t>
            </a:r>
            <a:r>
              <a:rPr dirty="0" err="1"/>
              <a:t>cron</a:t>
            </a:r>
            <a:r>
              <a:rPr dirty="0"/>
              <a:t> </a:t>
            </a:r>
            <a:r>
              <a:rPr dirty="0" err="1"/>
              <a:t>トリガーで定期ビルドができる（Qiita</a:t>
            </a:r>
            <a:r>
              <a:rPr dirty="0"/>
              <a:t> 記事を月1で再取得）</a:t>
            </a:r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・Public </a:t>
            </a:r>
            <a:r>
              <a:rPr dirty="0" err="1"/>
              <a:t>リポジトリ限定（コードが見えても良い前提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ビルド時間に上限あり（無料枠</a:t>
            </a:r>
            <a:r>
              <a:rPr dirty="0"/>
              <a:t> 2,000分/月、本サイトは1ビルド1分以下なので余裕）</a:t>
            </a:r>
          </a:p>
          <a:p>
            <a:r>
              <a:rPr dirty="0"/>
              <a:t>  ・</a:t>
            </a:r>
            <a:r>
              <a:rPr dirty="0" err="1"/>
              <a:t>カスタムドメインを使う場合は</a:t>
            </a:r>
            <a:r>
              <a:rPr dirty="0"/>
              <a:t> DNS </a:t>
            </a:r>
            <a:r>
              <a:rPr dirty="0" err="1"/>
              <a:t>設定が別途必要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</a:t>
            </a:r>
            <a:r>
              <a:rPr dirty="0" err="1"/>
              <a:t>外部連携</a:t>
            </a:r>
            <a:r>
              <a:rPr dirty="0"/>
              <a:t>: </a:t>
            </a:r>
            <a:r>
              <a:rPr dirty="0" err="1"/>
              <a:t>Qiita</a:t>
            </a:r>
            <a:r>
              <a:rPr dirty="0"/>
              <a:t> API / </a:t>
            </a:r>
            <a:r>
              <a:rPr dirty="0" err="1"/>
              <a:t>Formspree</a:t>
            </a:r>
            <a:r>
              <a:rPr dirty="0"/>
              <a:t> / Cloudflare Web Analytics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「</a:t>
            </a:r>
            <a:r>
              <a:rPr dirty="0" err="1"/>
              <a:t>ビルド時に取得して静的化」できるものは全て静的化。クライアントJSは最小限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Qiita</a:t>
            </a:r>
            <a:r>
              <a:rPr dirty="0"/>
              <a:t> API: </a:t>
            </a:r>
            <a:r>
              <a:rPr dirty="0" err="1"/>
              <a:t>ビルド時</a:t>
            </a:r>
            <a:r>
              <a:rPr dirty="0"/>
              <a:t> fetch → likes + stocks*2 </a:t>
            </a:r>
            <a:r>
              <a:rPr dirty="0" err="1"/>
              <a:t>でスコアリング</a:t>
            </a:r>
            <a:r>
              <a:rPr dirty="0"/>
              <a:t> → 上位5件を HTML </a:t>
            </a:r>
            <a:r>
              <a:rPr dirty="0" err="1"/>
              <a:t>埋め込み</a:t>
            </a:r>
            <a:endParaRPr dirty="0"/>
          </a:p>
          <a:p>
            <a:r>
              <a:rPr dirty="0"/>
              <a:t>  ・</a:t>
            </a:r>
            <a:r>
              <a:rPr dirty="0" err="1"/>
              <a:t>Formspree</a:t>
            </a:r>
            <a:r>
              <a:rPr dirty="0"/>
              <a:t>: </a:t>
            </a:r>
            <a:r>
              <a:rPr dirty="0" err="1"/>
              <a:t>お問い合わせフォームのバックエンド代替。Honeypot</a:t>
            </a:r>
            <a:r>
              <a:rPr dirty="0"/>
              <a:t> </a:t>
            </a:r>
            <a:r>
              <a:rPr dirty="0" err="1"/>
              <a:t>でスパム対策</a:t>
            </a:r>
            <a:endParaRPr dirty="0"/>
          </a:p>
          <a:p>
            <a:r>
              <a:rPr dirty="0"/>
              <a:t>  ・Cloudflare Web Analytics: Cookie </a:t>
            </a:r>
            <a:r>
              <a:rPr dirty="0" err="1"/>
              <a:t>不要・GDPR</a:t>
            </a:r>
            <a:r>
              <a:rPr dirty="0"/>
              <a:t> </a:t>
            </a:r>
            <a:r>
              <a:rPr dirty="0" err="1"/>
              <a:t>対応の軽量アナリティクス</a:t>
            </a:r>
            <a:endParaRPr dirty="0"/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全て無料枠で運用可能（Qiita</a:t>
            </a:r>
            <a:r>
              <a:rPr dirty="0"/>
              <a:t> API </a:t>
            </a:r>
            <a:r>
              <a:rPr dirty="0" err="1"/>
              <a:t>は認証不要、Formspree</a:t>
            </a:r>
            <a:r>
              <a:rPr dirty="0"/>
              <a:t> 月50件、CF </a:t>
            </a:r>
            <a:r>
              <a:rPr dirty="0" err="1"/>
              <a:t>完全無料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サーバーレス</a:t>
            </a:r>
            <a:r>
              <a:rPr dirty="0"/>
              <a:t> → </a:t>
            </a:r>
            <a:r>
              <a:rPr dirty="0" err="1"/>
              <a:t>バックエンド保守ゼロ</a:t>
            </a:r>
            <a:endParaRPr dirty="0"/>
          </a:p>
          <a:p>
            <a:r>
              <a:rPr dirty="0"/>
              <a:t>  ・</a:t>
            </a:r>
            <a:r>
              <a:rPr dirty="0" err="1"/>
              <a:t>Qiita</a:t>
            </a:r>
            <a:r>
              <a:rPr dirty="0"/>
              <a:t> </a:t>
            </a:r>
            <a:r>
              <a:rPr dirty="0" err="1"/>
              <a:t>記事は静的化されるため記事ページ自体の表示にAPI遅延が乗らない</a:t>
            </a:r>
            <a:endParaRPr dirty="0"/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Qiita</a:t>
            </a:r>
            <a:r>
              <a:rPr dirty="0"/>
              <a:t> API </a:t>
            </a:r>
            <a:r>
              <a:rPr dirty="0" err="1"/>
              <a:t>はレートリミット・IPブロックがあり、ローカル</a:t>
            </a:r>
            <a:r>
              <a:rPr dirty="0"/>
              <a:t> fetch </a:t>
            </a:r>
            <a:r>
              <a:rPr dirty="0" err="1"/>
              <a:t>では</a:t>
            </a:r>
            <a:r>
              <a:rPr dirty="0"/>
              <a:t> 403 </a:t>
            </a:r>
            <a:r>
              <a:rPr dirty="0" err="1"/>
              <a:t>が出る場合がある</a:t>
            </a:r>
            <a:endParaRPr dirty="0"/>
          </a:p>
          <a:p>
            <a:r>
              <a:rPr dirty="0"/>
              <a:t>    → </a:t>
            </a:r>
            <a:r>
              <a:rPr dirty="0" err="1"/>
              <a:t>import.meta.env.PROD</a:t>
            </a:r>
            <a:r>
              <a:rPr dirty="0"/>
              <a:t> </a:t>
            </a:r>
            <a:r>
              <a:rPr dirty="0" err="1"/>
              <a:t>で本番ビルド時のみ実行する分岐で回避</a:t>
            </a:r>
            <a:endParaRPr dirty="0"/>
          </a:p>
          <a:p>
            <a:r>
              <a:rPr dirty="0"/>
              <a:t>  ・</a:t>
            </a:r>
            <a:r>
              <a:rPr dirty="0" err="1"/>
              <a:t>Formspree</a:t>
            </a:r>
            <a:r>
              <a:rPr dirty="0"/>
              <a:t> 無料枠は月50件まで（個人サイトなので十分）</a:t>
            </a:r>
          </a:p>
          <a:p>
            <a:r>
              <a:rPr dirty="0"/>
              <a:t>  ・Cloudflare Analytics は localhost で CORS </a:t>
            </a:r>
            <a:r>
              <a:rPr dirty="0" err="1"/>
              <a:t>エラーが出るが本番では問題なし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【</a:t>
            </a:r>
            <a:r>
              <a:rPr dirty="0" err="1"/>
              <a:t>総合的な選定理由</a:t>
            </a:r>
            <a:r>
              <a:rPr dirty="0"/>
              <a:t>】</a:t>
            </a:r>
          </a:p>
          <a:p>
            <a:r>
              <a:rPr dirty="0"/>
              <a:t>これら6スタックの組み合わせは「無料 × </a:t>
            </a:r>
            <a:r>
              <a:rPr dirty="0" err="1"/>
              <a:t>高速</a:t>
            </a:r>
            <a:r>
              <a:rPr dirty="0"/>
              <a:t> × </a:t>
            </a:r>
            <a:r>
              <a:rPr dirty="0" err="1"/>
              <a:t>型安全</a:t>
            </a:r>
            <a:r>
              <a:rPr dirty="0"/>
              <a:t> × </a:t>
            </a:r>
            <a:r>
              <a:rPr dirty="0" err="1"/>
              <a:t>AI駆動開発との親和性」を全て満たす最小構成</a:t>
            </a:r>
            <a:r>
              <a:rPr dirty="0"/>
              <a:t>。</a:t>
            </a:r>
          </a:p>
          <a:p>
            <a:r>
              <a:rPr dirty="0" err="1"/>
              <a:t>特に</a:t>
            </a:r>
            <a:r>
              <a:rPr dirty="0"/>
              <a:t> Astro × Content Collections + Zod は AI </a:t>
            </a:r>
            <a:r>
              <a:rPr dirty="0" err="1"/>
              <a:t>にとって「型情報からコードを生成しやすい」構造であり</a:t>
            </a:r>
            <a:r>
              <a:rPr dirty="0"/>
              <a:t>、</a:t>
            </a:r>
          </a:p>
          <a:p>
            <a:r>
              <a:rPr dirty="0" err="1"/>
              <a:t>AI駆動開発の生産性を最大化する選択になっている</a:t>
            </a:r>
            <a:r>
              <a:rPr dirty="0"/>
              <a:t>。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40D1D6-3BC6-4DF1-B693-2708FA121648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506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00000" y="2105561"/>
            <a:ext cx="1059169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0A5FA"/>
                </a:solidFill>
              </a:defRPr>
            </a:pPr>
            <a:r>
              <a:rPr sz="4000" dirty="0"/>
              <a:t>5年目エンジニアが</a:t>
            </a:r>
            <a:endParaRPr lang="en-US" sz="4000" dirty="0"/>
          </a:p>
          <a:p>
            <a:pPr algn="ctr">
              <a:defRPr sz="3200" b="1">
                <a:solidFill>
                  <a:srgbClr val="60A5FA"/>
                </a:solidFill>
              </a:defRPr>
            </a:pPr>
            <a:r>
              <a:rPr sz="4000" dirty="0"/>
              <a:t>5日間でホームページを作った話</a:t>
            </a: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F955EC4C-F238-485B-524B-B157C3AD8008}"/>
              </a:ext>
            </a:extLst>
          </p:cNvPr>
          <p:cNvSpPr txBox="1"/>
          <p:nvPr/>
        </p:nvSpPr>
        <p:spPr>
          <a:xfrm>
            <a:off x="800000" y="3563816"/>
            <a:ext cx="105916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78BFA"/>
                </a:solidFill>
              </a:defRPr>
            </a:pPr>
            <a:r>
              <a:rPr lang="ja-JP" altLang="en-US" sz="2800" dirty="0"/>
              <a:t>須山 哲平</a:t>
            </a:r>
            <a:endParaRPr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sz="3600" dirty="0" err="1"/>
              <a:t>自己紹介</a:t>
            </a:r>
            <a:endParaRPr sz="3600" dirty="0"/>
          </a:p>
        </p:txBody>
      </p:sp>
      <p:sp>
        <p:nvSpPr>
          <p:cNvPr id="3" name="Rounded Rectangle 2"/>
          <p:cNvSpPr/>
          <p:nvPr/>
        </p:nvSpPr>
        <p:spPr>
          <a:xfrm>
            <a:off x="795528" y="1097280"/>
            <a:ext cx="5486400" cy="5029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234440"/>
            <a:ext cx="5166360" cy="2862322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 dirty="0">
                <a:solidFill>
                  <a:srgbClr val="A78BFA"/>
                </a:solidFill>
                <a:latin typeface="Yu Gothic UI"/>
              </a:rPr>
              <a:t>PROFILE</a:t>
            </a:r>
          </a:p>
          <a:p>
            <a:pPr algn="l"/>
            <a:r>
              <a:rPr sz="2000" b="1" dirty="0">
                <a:solidFill>
                  <a:srgbClr val="E2E8F0"/>
                </a:solidFill>
                <a:latin typeface="Yu Gothic UI"/>
              </a:rPr>
              <a:t>須山 哲平 (Teppei Suyama)</a:t>
            </a:r>
          </a:p>
          <a:p>
            <a:pPr algn="l"/>
            <a:r>
              <a:rPr sz="1300" b="0" dirty="0">
                <a:solidFill>
                  <a:srgbClr val="94A3B8"/>
                </a:solidFill>
                <a:latin typeface="Yu Gothic UI"/>
              </a:rPr>
              <a:t>27歳 / </a:t>
            </a:r>
            <a:r>
              <a:rPr sz="1300" b="0" dirty="0" err="1">
                <a:solidFill>
                  <a:srgbClr val="94A3B8"/>
                </a:solidFill>
                <a:latin typeface="Yu Gothic UI"/>
              </a:rPr>
              <a:t>IT業界</a:t>
            </a:r>
            <a:r>
              <a:rPr sz="1300" b="0" dirty="0">
                <a:solidFill>
                  <a:srgbClr val="94A3B8"/>
                </a:solidFill>
                <a:latin typeface="Yu Gothic UI"/>
              </a:rPr>
              <a:t> 5年目 / </a:t>
            </a:r>
            <a:r>
              <a:rPr sz="1300" b="0" dirty="0" err="1">
                <a:solidFill>
                  <a:srgbClr val="94A3B8"/>
                </a:solidFill>
                <a:latin typeface="Yu Gothic UI"/>
              </a:rPr>
              <a:t>エンジニア</a:t>
            </a:r>
            <a:endParaRPr sz="1300" b="0" dirty="0">
              <a:solidFill>
                <a:srgbClr val="94A3B8"/>
              </a:solidFill>
              <a:latin typeface="Yu Gothic UI"/>
            </a:endParaRPr>
          </a:p>
          <a:p>
            <a:pPr algn="l"/>
            <a:endParaRPr sz="1300" b="0" dirty="0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1200" b="1" dirty="0">
                <a:solidFill>
                  <a:srgbClr val="A78BFA"/>
                </a:solidFill>
                <a:latin typeface="Yu Gothic UI"/>
              </a:rPr>
              <a:t>EXPERIENCE</a:t>
            </a:r>
          </a:p>
          <a:p>
            <a:pPr algn="l"/>
            <a:r>
              <a:rPr sz="1300" b="0" dirty="0">
                <a:solidFill>
                  <a:srgbClr val="E2E8F0"/>
                </a:solidFill>
                <a:latin typeface="Yu Gothic UI"/>
              </a:rPr>
              <a:t>• パッケージ開発（約3年）</a:t>
            </a:r>
          </a:p>
          <a:p>
            <a:pPr algn="l"/>
            <a:r>
              <a:rPr sz="1300" b="0" dirty="0">
                <a:solidFill>
                  <a:srgbClr val="E2E8F0"/>
                </a:solidFill>
                <a:latin typeface="Yu Gothic UI"/>
              </a:rPr>
              <a:t>• </a:t>
            </a:r>
            <a:r>
              <a:rPr sz="1300" b="0" dirty="0" err="1">
                <a:solidFill>
                  <a:srgbClr val="E2E8F0"/>
                </a:solidFill>
                <a:latin typeface="Yu Gothic UI"/>
              </a:rPr>
              <a:t>SES（現職</a:t>
            </a:r>
            <a:r>
              <a:rPr sz="1300" b="0" dirty="0">
                <a:solidFill>
                  <a:srgbClr val="E2E8F0"/>
                </a:solidFill>
                <a:latin typeface="Yu Gothic UI"/>
              </a:rPr>
              <a:t> / </a:t>
            </a:r>
            <a:r>
              <a:rPr sz="1300" b="0" dirty="0" err="1">
                <a:solidFill>
                  <a:srgbClr val="E2E8F0"/>
                </a:solidFill>
                <a:latin typeface="Yu Gothic UI"/>
              </a:rPr>
              <a:t>フルスタック</a:t>
            </a:r>
            <a:r>
              <a:rPr sz="1300" b="0" dirty="0">
                <a:solidFill>
                  <a:srgbClr val="E2E8F0"/>
                </a:solidFill>
                <a:latin typeface="Yu Gothic UI"/>
              </a:rPr>
              <a:t>）</a:t>
            </a:r>
          </a:p>
          <a:p>
            <a:pPr algn="l"/>
            <a:r>
              <a:rPr sz="1300" b="0" dirty="0">
                <a:solidFill>
                  <a:srgbClr val="E2E8F0"/>
                </a:solidFill>
                <a:latin typeface="Yu Gothic UI"/>
              </a:rPr>
              <a:t>• </a:t>
            </a:r>
            <a:r>
              <a:rPr sz="1300" b="0" dirty="0" err="1">
                <a:solidFill>
                  <a:srgbClr val="E2E8F0"/>
                </a:solidFill>
                <a:latin typeface="Yu Gothic UI"/>
              </a:rPr>
              <a:t>業務委託</a:t>
            </a:r>
            <a:r>
              <a:rPr sz="1300" b="0" dirty="0">
                <a:solidFill>
                  <a:srgbClr val="E2E8F0"/>
                </a:solidFill>
                <a:latin typeface="Yu Gothic UI"/>
              </a:rPr>
              <a:t> 副業（1年</a:t>
            </a:r>
            <a:r>
              <a:rPr lang="ja-JP" altLang="en-US" sz="1300" b="0" dirty="0">
                <a:solidFill>
                  <a:srgbClr val="E2E8F0"/>
                </a:solidFill>
                <a:latin typeface="Yu Gothic UI"/>
              </a:rPr>
              <a:t>目</a:t>
            </a:r>
            <a:r>
              <a:rPr sz="1300" b="0" dirty="0">
                <a:solidFill>
                  <a:srgbClr val="E2E8F0"/>
                </a:solidFill>
                <a:latin typeface="Yu Gothic UI"/>
              </a:rPr>
              <a:t>）</a:t>
            </a:r>
          </a:p>
          <a:p>
            <a:pPr algn="l"/>
            <a:endParaRPr sz="1300" b="0" dirty="0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200" b="1" dirty="0" err="1">
                <a:solidFill>
                  <a:srgbClr val="A78BFA"/>
                </a:solidFill>
                <a:latin typeface="Yu Gothic UI"/>
              </a:rPr>
              <a:t>AI駆動開発</a:t>
            </a:r>
            <a:r>
              <a:rPr sz="1200" b="1" dirty="0">
                <a:solidFill>
                  <a:srgbClr val="A78BFA"/>
                </a:solidFill>
                <a:latin typeface="Yu Gothic UI"/>
              </a:rPr>
              <a:t> </a:t>
            </a:r>
            <a:r>
              <a:rPr sz="1200" b="1" dirty="0" err="1">
                <a:solidFill>
                  <a:srgbClr val="A78BFA"/>
                </a:solidFill>
                <a:latin typeface="Yu Gothic UI"/>
              </a:rPr>
              <a:t>個人開発実績</a:t>
            </a:r>
            <a:endParaRPr sz="1200" b="1" dirty="0">
              <a:solidFill>
                <a:srgbClr val="A78BFA"/>
              </a:solidFill>
              <a:latin typeface="Yu Gothic UI"/>
            </a:endParaRPr>
          </a:p>
          <a:p>
            <a:pPr algn="l"/>
            <a:r>
              <a:rPr sz="1300" b="0" dirty="0">
                <a:solidFill>
                  <a:srgbClr val="E2E8F0"/>
                </a:solidFill>
                <a:latin typeface="Yu Gothic UI"/>
              </a:rPr>
              <a:t>① </a:t>
            </a:r>
            <a:r>
              <a:rPr sz="1300" b="0" dirty="0" err="1">
                <a:solidFill>
                  <a:srgbClr val="E2E8F0"/>
                </a:solidFill>
                <a:latin typeface="Yu Gothic UI"/>
              </a:rPr>
              <a:t>ユメハシ</a:t>
            </a:r>
            <a:r>
              <a:rPr sz="1300" b="0" dirty="0">
                <a:solidFill>
                  <a:srgbClr val="E2E8F0"/>
                </a:solidFill>
                <a:latin typeface="Yu Gothic UI"/>
              </a:rPr>
              <a:t> (Flutter/Dart)  ──  21日</a:t>
            </a:r>
          </a:p>
          <a:p>
            <a:pPr algn="l"/>
            <a:r>
              <a:rPr sz="1300" b="0" dirty="0">
                <a:solidFill>
                  <a:srgbClr val="E2E8F0"/>
                </a:solidFill>
                <a:latin typeface="Yu Gothic UI"/>
              </a:rPr>
              <a:t>② </a:t>
            </a:r>
            <a:r>
              <a:rPr sz="1300" b="0" dirty="0" err="1">
                <a:solidFill>
                  <a:srgbClr val="E2E8F0"/>
                </a:solidFill>
                <a:latin typeface="Yu Gothic UI"/>
              </a:rPr>
              <a:t>Defrago</a:t>
            </a:r>
            <a:r>
              <a:rPr sz="1300" b="0" dirty="0">
                <a:solidFill>
                  <a:srgbClr val="E2E8F0"/>
                </a:solidFill>
                <a:latin typeface="Yu Gothic UI"/>
              </a:rPr>
              <a:t> (Python/</a:t>
            </a:r>
            <a:r>
              <a:rPr sz="1300" b="0" dirty="0" err="1">
                <a:solidFill>
                  <a:srgbClr val="E2E8F0"/>
                </a:solidFill>
                <a:latin typeface="Yu Gothic UI"/>
              </a:rPr>
              <a:t>FastAPI</a:t>
            </a:r>
            <a:r>
              <a:rPr sz="1300" b="0" dirty="0">
                <a:solidFill>
                  <a:srgbClr val="E2E8F0"/>
                </a:solidFill>
                <a:latin typeface="Yu Gothic UI"/>
              </a:rPr>
              <a:t>)  ──  14日</a:t>
            </a:r>
          </a:p>
          <a:p>
            <a:pPr algn="l"/>
            <a:r>
              <a:rPr sz="1400" b="1" dirty="0">
                <a:solidFill>
                  <a:srgbClr val="60A5FA"/>
                </a:solidFill>
                <a:latin typeface="Yu Gothic UI"/>
              </a:rPr>
              <a:t>③ </a:t>
            </a:r>
            <a:r>
              <a:rPr sz="1400" b="1" dirty="0" err="1">
                <a:solidFill>
                  <a:srgbClr val="60A5FA"/>
                </a:solidFill>
                <a:latin typeface="Yu Gothic UI"/>
              </a:rPr>
              <a:t>HomePage</a:t>
            </a:r>
            <a:r>
              <a:rPr sz="1400" b="1" dirty="0">
                <a:solidFill>
                  <a:srgbClr val="60A5FA"/>
                </a:solidFill>
                <a:latin typeface="Yu Gothic UI"/>
              </a:rPr>
              <a:t> (Astro/TS)  ──  5日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097280"/>
            <a:ext cx="4992624" cy="5029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48272" y="1234440"/>
            <a:ext cx="4663440" cy="47548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TODAY'S GOAL</a:t>
            </a:r>
          </a:p>
          <a:p>
            <a:pPr algn="l"/>
            <a:r>
              <a:rPr sz="2000" b="1">
                <a:solidFill>
                  <a:srgbClr val="E2E8F0"/>
                </a:solidFill>
                <a:latin typeface="Yu Gothic UI"/>
              </a:rPr>
              <a:t>今日伝えたいこと</a:t>
            </a:r>
          </a:p>
          <a:p>
            <a:pPr algn="l"/>
            <a:endParaRPr sz="20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500" b="0">
                <a:solidFill>
                  <a:srgbClr val="E2E8F0"/>
                </a:solidFill>
                <a:latin typeface="Yu Gothic UI"/>
              </a:rPr>
              <a:t>AI駆動開発 3作目の成果を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Yu Gothic UI"/>
              </a:rPr>
              <a:t>開発者の視点で「数字」で語ります</a:t>
            </a:r>
          </a:p>
          <a:p>
            <a:pPr algn="l"/>
            <a:endParaRPr sz="1500" b="0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60A5FA"/>
                </a:solidFill>
                <a:latin typeface="Yu Gothic UI"/>
              </a:rPr>
              <a:t>✓ 開発期間 5日（従来比 90%短縮）</a:t>
            </a:r>
          </a:p>
          <a:p>
            <a:pPr algn="l"/>
            <a:r>
              <a:rPr sz="1300" b="0">
                <a:solidFill>
                  <a:srgbClr val="60A5FA"/>
                </a:solidFill>
                <a:latin typeface="Yu Gothic UI"/>
              </a:rPr>
              <a:t>✓ 1日あたり 800行（従来 50〜100行）</a:t>
            </a:r>
          </a:p>
          <a:p>
            <a:pPr algn="l"/>
            <a:r>
              <a:rPr sz="1300" b="0">
                <a:solidFill>
                  <a:srgbClr val="60A5FA"/>
                </a:solidFill>
                <a:latin typeface="Yu Gothic UI"/>
              </a:rPr>
              <a:t>✓ 月コスト 5,000円（外注比 1/100〜1/300）</a:t>
            </a:r>
          </a:p>
          <a:p>
            <a:pPr algn="l"/>
            <a:r>
              <a:rPr sz="1300" b="0">
                <a:solidFill>
                  <a:srgbClr val="60A5FA"/>
                </a:solidFill>
                <a:latin typeface="Yu Gothic UI"/>
              </a:rPr>
              <a:t>✓ Astro 学習コスト 0日</a:t>
            </a:r>
          </a:p>
          <a:p>
            <a:pPr algn="l"/>
            <a:endParaRPr sz="1300" b="0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94A3B8"/>
                </a:solidFill>
                <a:latin typeface="Yu Gothic UI"/>
              </a:rPr>
              <a:t>最後に HomePage の中身も少しだけお見せします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29151" y="4003431"/>
            <a:ext cx="2061341" cy="20398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901459B-D6D4-46A1-AAA8-B335B069D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167" y="4081626"/>
            <a:ext cx="1821956" cy="18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4B6DB73D-52D3-6295-AD46-E6C70C2BC6F8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本資料の目的</a:t>
            </a:r>
            <a:endParaRPr sz="3600" dirty="0"/>
          </a:p>
        </p:txBody>
      </p:sp>
      <p:sp>
        <p:nvSpPr>
          <p:cNvPr id="43" name="Rounded Rectangle 42"/>
          <p:cNvSpPr/>
          <p:nvPr/>
        </p:nvSpPr>
        <p:spPr>
          <a:xfrm>
            <a:off x="795528" y="1097280"/>
            <a:ext cx="10588752" cy="20116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97280" y="1280160"/>
            <a:ext cx="10058400" cy="1737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MISSION</a:t>
            </a:r>
          </a:p>
          <a:p>
            <a:pPr algn="l"/>
            <a:r>
              <a:rPr sz="2000" b="1">
                <a:solidFill>
                  <a:srgbClr val="E2E8F0"/>
                </a:solidFill>
                <a:latin typeface="Yu Gothic UI"/>
              </a:rPr>
              <a:t>AI駆動開発の「実際のところ」を、開発者目線でリアルに共有する。</a:t>
            </a:r>
          </a:p>
          <a:p>
            <a:pPr algn="l"/>
            <a:endParaRPr sz="20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AIはコストがかかる。だからこそ「使った人の感想」と「定量的な結果」を求められる。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本LTでは、HomePage 開発を題材に、開発期間・コード量・コスト・品質を実数値で公開します。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8" y="3383280"/>
            <a:ext cx="3456432" cy="30175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78408" y="3520440"/>
            <a:ext cx="3090672" cy="2834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3600" b="1">
                <a:solidFill>
                  <a:srgbClr val="60A5FA"/>
                </a:solidFill>
                <a:latin typeface="Yu Gothic UI"/>
              </a:rPr>
              <a:t>01</a:t>
            </a:r>
          </a:p>
          <a:p>
            <a:pPr algn="l"/>
            <a:r>
              <a:rPr sz="1800" b="1">
                <a:solidFill>
                  <a:srgbClr val="E2E8F0"/>
                </a:solidFill>
                <a:latin typeface="Yu Gothic UI"/>
              </a:rPr>
              <a:t>定量データ</a:t>
            </a:r>
          </a:p>
          <a:p>
            <a:pPr algn="l"/>
            <a:endParaRPr sz="18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5日 / 800行/日 / 0学習日。
実プロジェクトの素の数字。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43400" y="3383280"/>
            <a:ext cx="3456432" cy="30175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26280" y="3520440"/>
            <a:ext cx="3090672" cy="2834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3600" b="1">
                <a:solidFill>
                  <a:srgbClr val="A78BFA"/>
                </a:solidFill>
                <a:latin typeface="Yu Gothic UI"/>
              </a:rPr>
              <a:t>02</a:t>
            </a:r>
          </a:p>
          <a:p>
            <a:pPr algn="l"/>
            <a:r>
              <a:rPr sz="1800" b="1">
                <a:solidFill>
                  <a:srgbClr val="E2E8F0"/>
                </a:solidFill>
                <a:latin typeface="Yu Gothic UI"/>
              </a:rPr>
              <a:t>コスト感覚</a:t>
            </a:r>
          </a:p>
          <a:p>
            <a:pPr algn="l"/>
            <a:endParaRPr sz="18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月$33（実質）。
外注比 1/100〜1/300 の現実。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91271" y="3383280"/>
            <a:ext cx="3456432" cy="30175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074151" y="3520440"/>
            <a:ext cx="3090672" cy="2834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3600" b="1">
                <a:solidFill>
                  <a:srgbClr val="60A5FA"/>
                </a:solidFill>
                <a:latin typeface="Yu Gothic UI"/>
              </a:rPr>
              <a:t>03</a:t>
            </a:r>
          </a:p>
          <a:p>
            <a:pPr algn="l"/>
            <a:r>
              <a:rPr sz="1800" b="1">
                <a:solidFill>
                  <a:srgbClr val="E2E8F0"/>
                </a:solidFill>
                <a:latin typeface="Yu Gothic UI"/>
              </a:rPr>
              <a:t>再現可能性</a:t>
            </a:r>
          </a:p>
          <a:p>
            <a:pPr algn="l"/>
            <a:endParaRPr sz="18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Claude Code Level 5 テンプレートを
そのまま使えば誰でも到達できる。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C980B0-04BD-D32B-99E6-7E4FE7518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2665A0BF-B0B9-44DF-750B-3C171C5695DE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HomePage の中身 — 技術スタック &amp; アーキテクチャ</a:t>
            </a:r>
            <a:endParaRPr sz="3600" dirty="0"/>
          </a:p>
        </p:txBody>
      </p:sp>
      <p:sp>
        <p:nvSpPr>
          <p:cNvPr id="43" name="TextBox 42"/>
          <p:cNvSpPr txBox="1"/>
          <p:nvPr/>
        </p:nvSpPr>
        <p:spPr>
          <a:xfrm>
            <a:off x="795528" y="914400"/>
            <a:ext cx="10588752" cy="45720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500" b="1">
                <a:solidFill>
                  <a:srgbClr val="A78BFA"/>
                </a:solidFill>
                <a:latin typeface="Yu Gothic UI"/>
              </a:rPr>
              <a:t>Astro v6 完全静的SSG + ゼロJSナビゲーション + ビルド時API連携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5528" y="1508760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0120" y="1600200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WEB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Astro v6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TypeScript (strict)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Content Collections + Zod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1508760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07992" y="1600200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STYLE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Scoped CSS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ダークモード対応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CSS Variables / scroll-behavior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91271" y="1508760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55863" y="1600200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ROUTING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ClientRouter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View Transitions API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data-astro-reload で互換性確保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8" y="3310128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0120" y="3401568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QUALITY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vitest + astro check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型安全 + 単体テスト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ビルド時に全ページ検証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3310128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07992" y="3401568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CI / CD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GitHub Actions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push → 自動ビルド → Pages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毎月 Qiita 取得バッチ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91271" y="3310128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055863" y="3401568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外部連携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Qiita / Formspree / CF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Qiita API ビルド時取得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Formspree (Honeypot)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Cloudflare Web Analytics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95528" y="5166360"/>
            <a:ext cx="10588752" cy="15087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60120" y="5285232"/>
            <a:ext cx="10332720" cy="137160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DESIGN PRINCIPLES — HomePage を支える3つの原則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● Zero Hardcoding   ── 全UIテキストは src/data/labels.ts に集約（375行）。i18n相当の関心事分離。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● Zero JS Navigation   ── 目次・アンカー・スムーズスクロールは scroll-behavior + scroll-margin-top のみで実現。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● SEO First   ── sitemap / OGP / JSON-LD / RSS をビルド時に自動生成。Cookie-free Analytics で軽量。</a:t>
            </a:r>
          </a:p>
        </p:txBody>
      </p:sp>
    </p:spTree>
    <p:extLst>
      <p:ext uri="{BB962C8B-B14F-4D97-AF65-F5344CB8AC3E}">
        <p14:creationId xmlns:p14="http://schemas.microsoft.com/office/powerpoint/2010/main" val="2418765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198E3C-C3EC-2FF6-D3C6-2F937DDEA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B77C1913-8E02-027A-CBF2-6E9D94CE835C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Before: </a:t>
            </a:r>
            <a:r>
              <a:rPr lang="ja-JP" altLang="en-US" sz="3600" dirty="0"/>
              <a:t>従来の開発で作ったら？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862634"/>
            <a:ext cx="320000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フレームワーク学習</a:t>
            </a:r>
            <a:endParaRPr dirty="0"/>
          </a:p>
          <a:p>
            <a:pPr>
              <a:defRPr sz="2800" b="1">
                <a:solidFill>
                  <a:srgbClr val="E2E8F0"/>
                </a:solidFill>
              </a:defRPr>
            </a:pPr>
            <a:r>
              <a:rPr dirty="0"/>
              <a:t>2〜3週間</a:t>
            </a:r>
          </a:p>
          <a:p>
            <a:pPr>
              <a:defRPr sz="1200" b="0">
                <a:solidFill>
                  <a:srgbClr val="94A3B8"/>
                </a:solidFill>
              </a:defRPr>
            </a:pPr>
            <a:r>
              <a:rPr dirty="0"/>
              <a:t>Astro v6 / Content Collections / </a:t>
            </a:r>
            <a:r>
              <a:rPr dirty="0" err="1"/>
              <a:t>ClientRouter</a:t>
            </a:r>
            <a:r>
              <a:rPr dirty="0"/>
              <a:t> / Zod </a:t>
            </a:r>
            <a:r>
              <a:rPr dirty="0" err="1"/>
              <a:t>を学ぶ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400000" y="862634"/>
            <a:ext cx="320000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設計・実装・SEO整備</a:t>
            </a:r>
            <a:endParaRPr dirty="0"/>
          </a:p>
          <a:p>
            <a:pPr>
              <a:defRPr sz="2800" b="1">
                <a:solidFill>
                  <a:srgbClr val="E2E8F0"/>
                </a:solidFill>
              </a:defRPr>
            </a:pPr>
            <a:r>
              <a:rPr dirty="0"/>
              <a:t>3〜6週間</a:t>
            </a:r>
          </a:p>
          <a:p>
            <a:pPr>
              <a:defRPr sz="1200" b="0">
                <a:solidFill>
                  <a:srgbClr val="94A3B8"/>
                </a:solidFill>
              </a:defRPr>
            </a:pPr>
            <a:r>
              <a:rPr dirty="0" err="1"/>
              <a:t>ページ実装</a:t>
            </a:r>
            <a:r>
              <a:rPr dirty="0"/>
              <a:t> + </a:t>
            </a:r>
            <a:r>
              <a:rPr dirty="0" err="1"/>
              <a:t>ダークモード</a:t>
            </a:r>
            <a:r>
              <a:rPr dirty="0"/>
              <a:t> +OGP/RSS/JSON-LD/sitemap </a:t>
            </a:r>
            <a:r>
              <a:rPr dirty="0" err="1"/>
              <a:t>構築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8000000" y="862634"/>
            <a:ext cx="320000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合計</a:t>
            </a:r>
            <a:endParaRPr dirty="0"/>
          </a:p>
          <a:p>
            <a:pPr>
              <a:defRPr sz="2800" b="1">
                <a:solidFill>
                  <a:srgbClr val="E2E8F0"/>
                </a:solidFill>
              </a:defRPr>
            </a:pPr>
            <a:r>
              <a:rPr dirty="0"/>
              <a:t>1〜2ヶ月</a:t>
            </a:r>
          </a:p>
          <a:p>
            <a:pPr>
              <a:defRPr sz="1200" b="0">
                <a:solidFill>
                  <a:srgbClr val="94A3B8"/>
                </a:solidFill>
              </a:defRPr>
            </a:pPr>
            <a:r>
              <a:rPr dirty="0"/>
              <a:t>1人で新規個人ホームページ構築の</a:t>
            </a:r>
            <a:r>
              <a:rPr lang="ja-JP" altLang="en-US" dirty="0"/>
              <a:t>場合</a:t>
            </a:r>
            <a:endParaRPr dirty="0"/>
          </a:p>
        </p:txBody>
      </p:sp>
      <p:sp>
        <p:nvSpPr>
          <p:cNvPr id="9" name="TextBox 1">
            <a:extLst>
              <a:ext uri="{FF2B5EF4-FFF2-40B4-BE49-F238E27FC236}">
                <a16:creationId xmlns:a16="http://schemas.microsoft.com/office/drawing/2014/main" id="{ECC17073-DC4C-40E8-7884-B38478D81C2E}"/>
              </a:ext>
            </a:extLst>
          </p:cNvPr>
          <p:cNvSpPr txBox="1"/>
          <p:nvPr/>
        </p:nvSpPr>
        <p:spPr>
          <a:xfrm>
            <a:off x="800000" y="3486074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After: AI</a:t>
            </a:r>
            <a:r>
              <a:rPr lang="ja-JP" altLang="en-US" sz="3600" dirty="0"/>
              <a:t>駆動開発で作ったら？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D620087E-C29C-3546-F47D-6A2C576A3074}"/>
              </a:ext>
            </a:extLst>
          </p:cNvPr>
          <p:cNvSpPr txBox="1"/>
          <p:nvPr/>
        </p:nvSpPr>
        <p:spPr>
          <a:xfrm>
            <a:off x="800000" y="4148708"/>
            <a:ext cx="320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フレームワーク学習</a:t>
            </a:r>
            <a:endParaRPr dirty="0"/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513EE319-164D-7E99-05B6-652C8B8962E5}"/>
              </a:ext>
            </a:extLst>
          </p:cNvPr>
          <p:cNvSpPr txBox="1"/>
          <p:nvPr/>
        </p:nvSpPr>
        <p:spPr>
          <a:xfrm>
            <a:off x="4400000" y="4148708"/>
            <a:ext cx="320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設計・実装・SEO整備</a:t>
            </a:r>
            <a:endParaRPr dirty="0"/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49DD2101-DD33-1B64-4D0D-E27AFC080CCA}"/>
              </a:ext>
            </a:extLst>
          </p:cNvPr>
          <p:cNvSpPr txBox="1"/>
          <p:nvPr/>
        </p:nvSpPr>
        <p:spPr>
          <a:xfrm>
            <a:off x="8000000" y="4148708"/>
            <a:ext cx="320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合計</a:t>
            </a:r>
            <a:endParaRPr dirty="0"/>
          </a:p>
        </p:txBody>
      </p:sp>
      <p:sp>
        <p:nvSpPr>
          <p:cNvPr id="43" name="TextBox 42"/>
          <p:cNvSpPr txBox="1"/>
          <p:nvPr/>
        </p:nvSpPr>
        <p:spPr>
          <a:xfrm>
            <a:off x="795528" y="4800600"/>
            <a:ext cx="3200400" cy="7772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3600" b="1">
                <a:solidFill>
                  <a:srgbClr val="60A5FA"/>
                </a:solidFill>
                <a:latin typeface="Yu Gothic UI"/>
              </a:rPr>
              <a:t>0日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8" y="5623560"/>
            <a:ext cx="3200400" cy="10058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AIが全コード生成。</a:t>
            </a:r>
          </a:p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Astro v6 初見で即着手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98264" y="4800600"/>
            <a:ext cx="3200400" cy="7772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3600" b="1">
                <a:solidFill>
                  <a:srgbClr val="60A5FA"/>
                </a:solidFill>
                <a:latin typeface="Yu Gothic UI"/>
              </a:rPr>
              <a:t>5日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98264" y="5623560"/>
            <a:ext cx="3200400" cy="10058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18ページ + Career SVG +</a:t>
            </a:r>
          </a:p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Qiita連携 + SEO完備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4800600"/>
            <a:ext cx="3200400" cy="7772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3600" b="1">
                <a:solidFill>
                  <a:srgbClr val="60A5FA"/>
                </a:solidFill>
                <a:latin typeface="Yu Gothic UI"/>
              </a:rPr>
              <a:t>5日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5623560"/>
            <a:ext cx="3200400" cy="10058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従来比 約90% 短縮</a:t>
            </a:r>
          </a:p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（1〜2ヶ月 → 5日）</a:t>
            </a:r>
          </a:p>
        </p:txBody>
      </p:sp>
    </p:spTree>
    <p:extLst>
      <p:ext uri="{BB962C8B-B14F-4D97-AF65-F5344CB8AC3E}">
        <p14:creationId xmlns:p14="http://schemas.microsoft.com/office/powerpoint/2010/main" val="2721215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60F031-D546-1B86-302C-F3C146A5B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27CEADF3-6776-A9AE-4D1C-77A7007F0A72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従来の開発と</a:t>
            </a:r>
            <a:r>
              <a:rPr lang="en-US" altLang="ja-JP" sz="3600" dirty="0"/>
              <a:t>AI</a:t>
            </a:r>
            <a:r>
              <a:rPr lang="ja-JP" altLang="en-US" sz="3600" dirty="0"/>
              <a:t>駆動開発との定量比較表</a:t>
            </a:r>
            <a:endParaRPr sz="3600" dirty="0"/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795528" y="1097280"/>
          <a:ext cx="10588752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0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指標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従来開発（推定）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AI駆動開発（実績）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効果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開発期間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1〜2ヶ月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約90% 短縮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コード生産速度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50〜100行/日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800行/日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8〜16倍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学習コスト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2〜3週間（Astro v6）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0日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完全省略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テスト整備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後追い・任意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vitest 同時整備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品質基盤同梱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ページ数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5〜10ページ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18ページ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約2倍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SEO / OGP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手動・部分対応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sitemap/OGP/RSS/JSON-LD 自動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完全自動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デプロイ環境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VPS / 月数千円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 Pages（無料）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外注換算コスト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50〜150万円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月$33（按分）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1/100〜1/300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1466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E29CAC-D8D5-262B-33A2-5E3E3651D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2727FB2A-1ADC-F22E-D588-05CBF63512BA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AI</a:t>
            </a:r>
            <a:r>
              <a:rPr lang="ja-JP" altLang="en-US" sz="3600" dirty="0"/>
              <a:t>駆動開発のコスト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795528" y="1097280"/>
          <a:ext cx="6858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項目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金額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備考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Claude Code (Max)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$100/月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3プロジェクト共用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 Pages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Public は完全無料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ドメイン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github.io サブドメイン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 Actions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Public リポジトリ無料枠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Cloudflare Analytics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Cookie-free 無料プラン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Formspree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無料枠 50件/月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実質負担（按分）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$33/月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= 約 5,000円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4" name="Rounded Rectangle 43"/>
          <p:cNvSpPr/>
          <p:nvPr/>
        </p:nvSpPr>
        <p:spPr>
          <a:xfrm>
            <a:off x="7909560" y="109728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92440" y="1280160"/>
            <a:ext cx="3200400" cy="4114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VS 外注</a:t>
            </a:r>
          </a:p>
          <a:p>
            <a:pPr algn="l"/>
            <a:r>
              <a:rPr sz="1400" b="1">
                <a:solidFill>
                  <a:srgbClr val="E2E8F0"/>
                </a:solidFill>
                <a:latin typeface="Yu Gothic UI"/>
              </a:rPr>
              <a:t>従来の外注開発</a:t>
            </a:r>
          </a:p>
          <a:p>
            <a:pPr algn="l"/>
            <a:r>
              <a:rPr sz="1100" b="0">
                <a:solidFill>
                  <a:srgbClr val="94A3B8"/>
                </a:solidFill>
                <a:latin typeface="Yu Gothic UI"/>
              </a:rPr>
              <a:t>（個人サイト, 1〜2ヶ月）</a:t>
            </a:r>
          </a:p>
          <a:p>
            <a:pPr algn="l"/>
            <a:endParaRPr sz="1100" b="0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2400" b="1">
                <a:solidFill>
                  <a:srgbClr val="94A3B8"/>
                </a:solidFill>
                <a:latin typeface="Yu Gothic UI"/>
              </a:rPr>
              <a:t>50〜150万円</a:t>
            </a:r>
          </a:p>
          <a:p>
            <a:pPr algn="l"/>
            <a:endParaRPr sz="2400" b="1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1400" b="1">
                <a:solidFill>
                  <a:srgbClr val="E2E8F0"/>
                </a:solidFill>
                <a:latin typeface="Yu Gothic UI"/>
              </a:rPr>
              <a:t>AI駆動開発</a:t>
            </a:r>
          </a:p>
          <a:p>
            <a:pPr algn="l"/>
            <a:r>
              <a:rPr sz="1100" b="0">
                <a:solidFill>
                  <a:srgbClr val="94A3B8"/>
                </a:solidFill>
                <a:latin typeface="Yu Gothic UI"/>
              </a:rPr>
              <a:t>（HomePage 実績）</a:t>
            </a:r>
          </a:p>
          <a:p>
            <a:pPr algn="l"/>
            <a:endParaRPr sz="1100" b="0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2600" b="1">
                <a:solidFill>
                  <a:srgbClr val="60A5FA"/>
                </a:solidFill>
                <a:latin typeface="Yu Gothic UI"/>
              </a:rPr>
              <a:t>月 5,000円</a:t>
            </a:r>
          </a:p>
          <a:p>
            <a:pPr algn="l"/>
            <a:endParaRPr sz="26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94A3B8"/>
                </a:solidFill>
                <a:latin typeface="Yu Gothic UI"/>
              </a:rPr>
              <a:t>コスト比</a:t>
            </a:r>
          </a:p>
          <a:p>
            <a:pPr algn="l"/>
            <a:r>
              <a:rPr sz="2000" b="1">
                <a:solidFill>
                  <a:srgbClr val="A78BFA"/>
                </a:solidFill>
                <a:latin typeface="Yu Gothic UI"/>
              </a:rPr>
              <a:t>1/100 〜 1/300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8" y="5669280"/>
            <a:ext cx="10588752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60120" y="5760720"/>
            <a:ext cx="10332720" cy="8229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  <a:latin typeface="Yu Gothic UI"/>
              </a:rPr>
              <a:t>🔑  Claude Code Max は1契約で複数プロジェクト共用可。AI駆動開発を始めるなら『3作目以降から劇的に元が取れる』</a:t>
            </a:r>
          </a:p>
          <a:p>
            <a:pPr algn="l"/>
            <a:r>
              <a:rPr sz="1200" b="0">
                <a:solidFill>
                  <a:srgbClr val="94A3B8"/>
                </a:solidFill>
                <a:latin typeface="Yu Gothic UI"/>
              </a:rPr>
              <a:t>ユメハシ・Defrago・HomePage で同じサブスクを使い回し、按分で実質月5,000円。テンプレート資産は使うほど蓄積される。</a:t>
            </a:r>
          </a:p>
        </p:txBody>
      </p:sp>
    </p:spTree>
    <p:extLst>
      <p:ext uri="{BB962C8B-B14F-4D97-AF65-F5344CB8AC3E}">
        <p14:creationId xmlns:p14="http://schemas.microsoft.com/office/powerpoint/2010/main" val="1314748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44133-9C80-5155-0E91-0E8D3812C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3BD072A2-FD0E-2F52-0C4E-8A2C9C01C1AC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AI</a:t>
            </a:r>
            <a:r>
              <a:rPr lang="ja-JP" altLang="en-US" sz="3600" dirty="0"/>
              <a:t>駆動開発で発揮される開発者の真価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960120"/>
            <a:ext cx="10588752" cy="502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500" b="1">
                <a:solidFill>
                  <a:srgbClr val="A78BFA"/>
                </a:solidFill>
                <a:latin typeface="Yu Gothic UI"/>
              </a:rPr>
              <a:t>AIが「コード生成」を担うからこそ、開発者は本来の価値に集中できる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5528" y="160020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8408" y="173736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🎯  プロダクトビジョン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" y="2377440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「何を作るか」「なぜ作るか」は AI には決められない。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ドメインの理解と、ユーザーへの共感に基づく意思決定こそ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開発者の最初の価値。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89904" y="160020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72784" y="173736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🧭  アーキテクチャ判断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72784" y="2377440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Astro v6 を選ぶ・GitHub Pages にする・labels.ts に集約する。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技術選定とトレードオフの判断は経験からしか出てこない。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AIは『提案』はするが『決定』はできない。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8" y="416052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78408" y="429768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🔍  品質・UX レビュー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8" y="4937759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AIが書いたコードを読み、UX の細部を詰め、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「ここは青文字を使わない」「目次はこのデザインで」と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判断を返す。最終品質は人間の目が決める。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89904" y="416052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72784" y="429768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⚡  高速フィードバック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72784" y="4937759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プロンプト設計・指示の精度・再現可能なテンプレート化。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AIを最大効率で動かすには、開発者自身の経験と判断が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そのままスループットになる。</a:t>
            </a:r>
          </a:p>
        </p:txBody>
      </p:sp>
    </p:spTree>
    <p:extLst>
      <p:ext uri="{BB962C8B-B14F-4D97-AF65-F5344CB8AC3E}">
        <p14:creationId xmlns:p14="http://schemas.microsoft.com/office/powerpoint/2010/main" val="2941424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07B1DD-514B-23B1-E4CD-E5DED30FD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92EACE4D-4449-EE0A-8FF0-604D3F9E6FFF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なぜこのホームページを作ったのか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8" y="1097280"/>
            <a:ext cx="10588752" cy="1920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97280" y="1280160"/>
            <a:ext cx="1005840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WHY</a:t>
            </a:r>
          </a:p>
          <a:p>
            <a:pPr algn="l"/>
            <a:r>
              <a:rPr sz="2200" b="1">
                <a:solidFill>
                  <a:srgbClr val="E2E8F0"/>
                </a:solidFill>
                <a:latin typeface="Yu Gothic UI"/>
              </a:rPr>
              <a:t>「自分をプロダクト化する場所が欲しかった。」</a:t>
            </a:r>
          </a:p>
          <a:p>
            <a:pPr algn="l"/>
            <a:endParaRPr sz="22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400" b="0">
                <a:solidFill>
                  <a:srgbClr val="94A3B8"/>
                </a:solidFill>
                <a:latin typeface="Yu Gothic UI"/>
              </a:rPr>
              <a:t>SNS や Qiita だけでは開発者の全容は伝わらない。</a:t>
            </a:r>
          </a:p>
          <a:p>
            <a:pPr algn="l"/>
            <a:r>
              <a:rPr sz="1400" b="0">
                <a:solidFill>
                  <a:srgbClr val="94A3B8"/>
                </a:solidFill>
                <a:latin typeface="Yu Gothic UI"/>
              </a:rPr>
              <a:t>個人開発・参画プロジェクト・技術記事・経歴を一箇所に集約し、</a:t>
            </a:r>
          </a:p>
          <a:p>
            <a:pPr algn="l"/>
            <a:r>
              <a:rPr sz="1400" b="0">
                <a:solidFill>
                  <a:srgbClr val="94A3B8"/>
                </a:solidFill>
                <a:latin typeface="Yu Gothic UI"/>
              </a:rPr>
              <a:t>「フルスタックで作れること」自体を成果物として見せたかった。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8" y="3246120"/>
            <a:ext cx="3456432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78408" y="3383280"/>
            <a:ext cx="3108960" cy="594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📄  履歴書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8408" y="4023360"/>
            <a:ext cx="310896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経歴・スキル・資格を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Git ブランチ風 SVG で可視化。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PDF より動きで魅せる。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98264" y="3246120"/>
            <a:ext cx="3456432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81144" y="3383280"/>
            <a:ext cx="3108960" cy="594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💼  ポートフォリオ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81144" y="4023360"/>
            <a:ext cx="310896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個人プロダクト・参画プロジェクトを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1サイトで横断的に紹介。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リンク1つで全実績にアクセス。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01000" y="3246120"/>
            <a:ext cx="3456432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183879" y="3383280"/>
            <a:ext cx="3108960" cy="594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✍️  ブログ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83879" y="4023360"/>
            <a:ext cx="3108960" cy="738664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 dirty="0" err="1">
                <a:solidFill>
                  <a:srgbClr val="E2E8F0"/>
                </a:solidFill>
                <a:latin typeface="Yu Gothic UI"/>
              </a:rPr>
              <a:t>Qiita</a:t>
            </a:r>
            <a:r>
              <a:rPr sz="1200" b="0" dirty="0">
                <a:solidFill>
                  <a:srgbClr val="E2E8F0"/>
                </a:solidFill>
                <a:latin typeface="Yu Gothic UI"/>
              </a:rPr>
              <a:t> </a:t>
            </a:r>
            <a:r>
              <a:rPr sz="1200" b="0" dirty="0" err="1">
                <a:solidFill>
                  <a:srgbClr val="E2E8F0"/>
                </a:solidFill>
                <a:latin typeface="Yu Gothic UI"/>
              </a:rPr>
              <a:t>記事をビルド時に自動取得</a:t>
            </a:r>
            <a:r>
              <a:rPr sz="1200" b="0" dirty="0">
                <a:solidFill>
                  <a:srgbClr val="E2E8F0"/>
                </a:solidFill>
                <a:latin typeface="Yu Gothic UI"/>
              </a:rPr>
              <a:t>。</a:t>
            </a:r>
          </a:p>
          <a:p>
            <a:pPr algn="l"/>
            <a:r>
              <a:rPr lang="ja-JP" altLang="en-US" sz="1200" b="0" dirty="0">
                <a:solidFill>
                  <a:srgbClr val="E2E8F0"/>
                </a:solidFill>
                <a:latin typeface="Yu Gothic UI"/>
              </a:rPr>
              <a:t>毎日の投稿予約機能等を用いることで</a:t>
            </a:r>
            <a:r>
              <a:rPr lang="en-US" altLang="ja-JP" sz="1200" b="0" dirty="0">
                <a:solidFill>
                  <a:srgbClr val="E2E8F0"/>
                </a:solidFill>
                <a:latin typeface="Yu Gothic UI"/>
              </a:rPr>
              <a:t>1</a:t>
            </a:r>
            <a:r>
              <a:rPr lang="ja-JP" altLang="en-US" sz="1200" b="0" dirty="0">
                <a:solidFill>
                  <a:srgbClr val="E2E8F0"/>
                </a:solidFill>
                <a:latin typeface="Yu Gothic UI"/>
              </a:rPr>
              <a:t>日</a:t>
            </a:r>
            <a:r>
              <a:rPr lang="en-US" altLang="ja-JP" sz="1200" b="0" dirty="0">
                <a:solidFill>
                  <a:srgbClr val="E2E8F0"/>
                </a:solidFill>
                <a:latin typeface="Yu Gothic UI"/>
              </a:rPr>
              <a:t>1</a:t>
            </a:r>
            <a:r>
              <a:rPr lang="ja-JP" altLang="en-US" sz="1200" b="0" dirty="0">
                <a:solidFill>
                  <a:srgbClr val="E2E8F0"/>
                </a:solidFill>
                <a:latin typeface="Yu Gothic UI"/>
              </a:rPr>
              <a:t>投稿を目指す。</a:t>
            </a:r>
            <a:endParaRPr sz="1200" b="0" dirty="0">
              <a:solidFill>
                <a:srgbClr val="E2E8F0"/>
              </a:solidFill>
              <a:latin typeface="Yu Gothic UI"/>
            </a:endParaRPr>
          </a:p>
        </p:txBody>
      </p:sp>
    </p:spTree>
    <p:extLst>
      <p:ext uri="{BB962C8B-B14F-4D97-AF65-F5344CB8AC3E}">
        <p14:creationId xmlns:p14="http://schemas.microsoft.com/office/powerpoint/2010/main" val="3572193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6768AF-0C0A-8CBD-5448-0A1D9039F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2089D5-455D-5512-E005-46563C7FFA83}"/>
              </a:ext>
            </a:extLst>
          </p:cNvPr>
          <p:cNvSpPr txBox="1"/>
          <p:nvPr/>
        </p:nvSpPr>
        <p:spPr>
          <a:xfrm>
            <a:off x="800000" y="2568342"/>
            <a:ext cx="1059169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0A5FA"/>
                </a:solidFill>
              </a:defRPr>
            </a:pPr>
            <a:r>
              <a:rPr lang="ja-JP" altLang="en-US" sz="4000" dirty="0"/>
              <a:t>ご清聴ありがとうございました</a:t>
            </a:r>
            <a:endParaRPr sz="4000" dirty="0"/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4C967B40-6251-4914-278D-1C30B7CF87A3}"/>
              </a:ext>
            </a:extLst>
          </p:cNvPr>
          <p:cNvSpPr txBox="1"/>
          <p:nvPr/>
        </p:nvSpPr>
        <p:spPr>
          <a:xfrm>
            <a:off x="800000" y="3563816"/>
            <a:ext cx="105916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78BFA"/>
                </a:solidFill>
              </a:defRPr>
            </a:pPr>
            <a:r>
              <a:rPr lang="ja-JP" altLang="en-US" sz="2800" dirty="0"/>
              <a:t>須山 哲平</a:t>
            </a:r>
            <a:endParaRPr sz="2800" dirty="0"/>
          </a:p>
        </p:txBody>
      </p:sp>
    </p:spTree>
    <p:extLst>
      <p:ext uri="{BB962C8B-B14F-4D97-AF65-F5344CB8AC3E}">
        <p14:creationId xmlns:p14="http://schemas.microsoft.com/office/powerpoint/2010/main" val="15522363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1556</Words>
  <Application>Microsoft Office PowerPoint</Application>
  <PresentationFormat>ワイド画面</PresentationFormat>
  <Paragraphs>326</Paragraphs>
  <Slides>10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Yu Gothic UI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Suyama Teppei</cp:lastModifiedBy>
  <cp:revision>8</cp:revision>
  <dcterms:created xsi:type="dcterms:W3CDTF">2013-01-27T09:14:16Z</dcterms:created>
  <dcterms:modified xsi:type="dcterms:W3CDTF">2026-04-10T09:57:54Z</dcterms:modified>
  <cp:category/>
</cp:coreProperties>
</file>