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6" r:id="rId5"/>
    <p:sldId id="267" r:id="rId6"/>
    <p:sldId id="268" r:id="rId7"/>
    <p:sldId id="269" r:id="rId8"/>
    <p:sldId id="270" r:id="rId9"/>
    <p:sldId id="271" r:id="rId10"/>
    <p:sldId id="27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457" autoAdjust="0"/>
  </p:normalViewPr>
  <p:slideViewPr>
    <p:cSldViewPr snapToGrid="0" snapToObjects="1">
      <p:cViewPr varScale="1">
        <p:scale>
          <a:sx n="159" d="100"/>
          <a:sy n="159" d="100"/>
        </p:scale>
        <p:origin x="336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390508-11FE-4107-B12B-FCBF7DE7140E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0D1D6-3BC6-4DF1-B693-2708FA1216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653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技術選定の判断基準</a:t>
            </a:r>
            <a:r>
              <a:rPr dirty="0"/>
              <a:t>】</a:t>
            </a:r>
          </a:p>
          <a:p>
            <a:r>
              <a:rPr dirty="0" err="1"/>
              <a:t>本サイトは「個人のホームページ</a:t>
            </a:r>
            <a:r>
              <a:rPr dirty="0"/>
              <a:t> = </a:t>
            </a:r>
            <a:r>
              <a:rPr dirty="0" err="1"/>
              <a:t>静的コンテンツ中心</a:t>
            </a:r>
            <a:r>
              <a:rPr dirty="0"/>
              <a:t>」「</a:t>
            </a:r>
            <a:r>
              <a:rPr dirty="0" err="1"/>
              <a:t>無料運用</a:t>
            </a:r>
            <a:r>
              <a:rPr dirty="0"/>
              <a:t>」「</a:t>
            </a:r>
            <a:r>
              <a:rPr dirty="0" err="1"/>
              <a:t>SEO重視</a:t>
            </a:r>
            <a:r>
              <a:rPr dirty="0"/>
              <a:t>」「</a:t>
            </a:r>
            <a:r>
              <a:rPr dirty="0" err="1"/>
              <a:t>個人開発で保守可能」を前提に技術を選定</a:t>
            </a:r>
            <a:r>
              <a:rPr dirty="0"/>
              <a:t>。</a:t>
            </a:r>
          </a:p>
          <a:p>
            <a:r>
              <a:rPr dirty="0" err="1"/>
              <a:t>判断軸は</a:t>
            </a:r>
            <a:r>
              <a:rPr dirty="0"/>
              <a:t> ① </a:t>
            </a:r>
            <a:r>
              <a:rPr dirty="0" err="1"/>
              <a:t>学習コスト</a:t>
            </a:r>
            <a:r>
              <a:rPr dirty="0"/>
              <a:t> ② </a:t>
            </a:r>
            <a:r>
              <a:rPr dirty="0" err="1"/>
              <a:t>運用コスト</a:t>
            </a:r>
            <a:r>
              <a:rPr dirty="0"/>
              <a:t> ③ </a:t>
            </a:r>
            <a:r>
              <a:rPr dirty="0" err="1"/>
              <a:t>AIとの相性</a:t>
            </a:r>
            <a:r>
              <a:rPr dirty="0"/>
              <a:t>（=</a:t>
            </a:r>
            <a:r>
              <a:rPr dirty="0" err="1"/>
              <a:t>コード生成しやすさ</a:t>
            </a:r>
            <a:r>
              <a:rPr dirty="0"/>
              <a:t>） ④ </a:t>
            </a:r>
            <a:r>
              <a:rPr dirty="0" err="1"/>
              <a:t>ロックインの少なさ</a:t>
            </a:r>
            <a:r>
              <a:rPr dirty="0"/>
              <a:t> ⑤ </a:t>
            </a:r>
            <a:r>
              <a:rPr dirty="0" err="1"/>
              <a:t>パフォーマンス（TTFB</a:t>
            </a:r>
            <a:r>
              <a:rPr dirty="0"/>
              <a:t> / Lighthouse）。</a:t>
            </a:r>
          </a:p>
          <a:p>
            <a:endParaRPr dirty="0"/>
          </a:p>
          <a:p>
            <a:r>
              <a:rPr dirty="0"/>
              <a:t>────────────────────────────────────────</a:t>
            </a:r>
          </a:p>
          <a:p>
            <a:r>
              <a:rPr dirty="0"/>
              <a:t>■ WEB: Astro v6 + TypeScript (strict) + Content Collections + Zod</a:t>
            </a:r>
          </a:p>
          <a:p>
            <a:r>
              <a:rPr dirty="0"/>
              <a:t>────────────────────────────────────────</a:t>
            </a:r>
          </a:p>
          <a:p>
            <a:r>
              <a:rPr dirty="0"/>
              <a:t>[</a:t>
            </a:r>
            <a:r>
              <a:rPr dirty="0" err="1"/>
              <a:t>判断基準</a:t>
            </a:r>
            <a:r>
              <a:rPr dirty="0"/>
              <a:t>] </a:t>
            </a:r>
            <a:r>
              <a:rPr dirty="0" err="1"/>
              <a:t>静的サイトに最適化されたフレームワーク。Islands</a:t>
            </a:r>
            <a:r>
              <a:rPr dirty="0"/>
              <a:t> Architecture </a:t>
            </a:r>
            <a:r>
              <a:rPr dirty="0" err="1"/>
              <a:t>によりJSバンドルを最小化できる</a:t>
            </a:r>
            <a:r>
              <a:rPr dirty="0"/>
              <a:t>。</a:t>
            </a:r>
          </a:p>
          <a:p>
            <a:r>
              <a:rPr dirty="0"/>
              <a:t>[</a:t>
            </a:r>
            <a:r>
              <a:rPr dirty="0" err="1"/>
              <a:t>特徴</a:t>
            </a:r>
            <a:r>
              <a:rPr dirty="0"/>
              <a:t>] .astro </a:t>
            </a:r>
            <a:r>
              <a:rPr dirty="0" err="1"/>
              <a:t>ファイルで</a:t>
            </a:r>
            <a:r>
              <a:rPr dirty="0"/>
              <a:t> HTML/CSS/JS を1ファイルに集約。MDX対応。Content Collections </a:t>
            </a:r>
            <a:r>
              <a:rPr dirty="0" err="1"/>
              <a:t>で型安全なコンテンツ管理</a:t>
            </a:r>
            <a:r>
              <a:rPr dirty="0"/>
              <a:t>。</a:t>
            </a:r>
          </a:p>
          <a:p>
            <a:r>
              <a:rPr dirty="0"/>
              <a:t>[</a:t>
            </a:r>
            <a:r>
              <a:rPr dirty="0" err="1"/>
              <a:t>メリット</a:t>
            </a:r>
            <a:r>
              <a:rPr dirty="0"/>
              <a:t>]</a:t>
            </a:r>
          </a:p>
          <a:p>
            <a:r>
              <a:rPr dirty="0"/>
              <a:t>  ・</a:t>
            </a:r>
            <a:r>
              <a:rPr dirty="0" err="1"/>
              <a:t>デフォルトでJSゼロ</a:t>
            </a:r>
            <a:r>
              <a:rPr dirty="0"/>
              <a:t> → </a:t>
            </a:r>
            <a:r>
              <a:rPr dirty="0" err="1"/>
              <a:t>表示速度が圧倒的に速い（Lighthouse</a:t>
            </a:r>
            <a:r>
              <a:rPr dirty="0"/>
              <a:t> 100点近く出やすい）</a:t>
            </a:r>
          </a:p>
          <a:p>
            <a:r>
              <a:rPr dirty="0"/>
              <a:t>  ・Content Collections + Zod で frontmatter </a:t>
            </a:r>
            <a:r>
              <a:rPr dirty="0" err="1"/>
              <a:t>のスキーマ検証が型レベルで保証される</a:t>
            </a:r>
            <a:endParaRPr dirty="0"/>
          </a:p>
          <a:p>
            <a:r>
              <a:rPr dirty="0"/>
              <a:t>  ・React/Vue/Svelte </a:t>
            </a:r>
            <a:r>
              <a:rPr dirty="0" err="1"/>
              <a:t>コンポーネントを部分的に混在可能（必要になっても拡張できる</a:t>
            </a:r>
            <a:r>
              <a:rPr dirty="0"/>
              <a:t>）</a:t>
            </a:r>
          </a:p>
          <a:p>
            <a:r>
              <a:rPr dirty="0"/>
              <a:t>  ・TypeScript strict </a:t>
            </a:r>
            <a:r>
              <a:rPr dirty="0" err="1"/>
              <a:t>モードで実装ミスをビルド時に検出</a:t>
            </a:r>
            <a:endParaRPr dirty="0"/>
          </a:p>
          <a:p>
            <a:r>
              <a:rPr dirty="0"/>
              <a:t>[</a:t>
            </a:r>
            <a:r>
              <a:rPr dirty="0" err="1"/>
              <a:t>デメリット</a:t>
            </a:r>
            <a:r>
              <a:rPr dirty="0"/>
              <a:t>]</a:t>
            </a:r>
          </a:p>
          <a:p>
            <a:r>
              <a:rPr dirty="0"/>
              <a:t>  ・v6 </a:t>
            </a:r>
            <a:r>
              <a:rPr dirty="0" err="1"/>
              <a:t>は比較的新しく、日本語情報が少ない</a:t>
            </a:r>
            <a:r>
              <a:rPr dirty="0"/>
              <a:t>（→ </a:t>
            </a:r>
            <a:r>
              <a:rPr dirty="0" err="1"/>
              <a:t>AI駆動開発で学習コストを相殺</a:t>
            </a:r>
            <a:r>
              <a:rPr dirty="0"/>
              <a:t>）</a:t>
            </a:r>
          </a:p>
          <a:p>
            <a:r>
              <a:rPr dirty="0"/>
              <a:t>  ・SSR </a:t>
            </a:r>
            <a:r>
              <a:rPr dirty="0" err="1"/>
              <a:t>が必要なケースには不向き（本サイトは静的なので問題なし</a:t>
            </a:r>
            <a:r>
              <a:rPr dirty="0"/>
              <a:t>）</a:t>
            </a:r>
          </a:p>
          <a:p>
            <a:r>
              <a:rPr dirty="0"/>
              <a:t>  ・</a:t>
            </a:r>
            <a:r>
              <a:rPr dirty="0" err="1"/>
              <a:t>破壊的変更がメジャーバージョンで入りやすい（ViewTransitions</a:t>
            </a:r>
            <a:r>
              <a:rPr dirty="0"/>
              <a:t> → </a:t>
            </a:r>
            <a:r>
              <a:rPr dirty="0" err="1"/>
              <a:t>ClientRouter</a:t>
            </a:r>
            <a:r>
              <a:rPr dirty="0"/>
              <a:t> </a:t>
            </a:r>
            <a:r>
              <a:rPr dirty="0" err="1"/>
              <a:t>のリネーム等</a:t>
            </a:r>
            <a:r>
              <a:rPr dirty="0"/>
              <a:t>）</a:t>
            </a:r>
          </a:p>
          <a:p>
            <a:endParaRPr dirty="0"/>
          </a:p>
          <a:p>
            <a:r>
              <a:rPr dirty="0"/>
              <a:t>────────────────────────────────────────</a:t>
            </a:r>
          </a:p>
          <a:p>
            <a:r>
              <a:rPr dirty="0"/>
              <a:t>■ STYLE: Scoped CSS + </a:t>
            </a:r>
            <a:r>
              <a:rPr dirty="0" err="1"/>
              <a:t>ダークモード</a:t>
            </a:r>
            <a:r>
              <a:rPr dirty="0"/>
              <a:t> + CSS Variables</a:t>
            </a:r>
          </a:p>
          <a:p>
            <a:r>
              <a:rPr dirty="0"/>
              <a:t>────────────────────────────────────────</a:t>
            </a:r>
          </a:p>
          <a:p>
            <a:r>
              <a:rPr dirty="0"/>
              <a:t>[</a:t>
            </a:r>
            <a:r>
              <a:rPr dirty="0" err="1"/>
              <a:t>判断基準</a:t>
            </a:r>
            <a:r>
              <a:rPr dirty="0"/>
              <a:t>] CSS-in-JS </a:t>
            </a:r>
            <a:r>
              <a:rPr dirty="0" err="1"/>
              <a:t>のランタイムコストを避け、ビルド時に完結するスタイリング</a:t>
            </a:r>
            <a:r>
              <a:rPr dirty="0"/>
              <a:t>。</a:t>
            </a:r>
          </a:p>
          <a:p>
            <a:r>
              <a:rPr dirty="0"/>
              <a:t>[</a:t>
            </a:r>
            <a:r>
              <a:rPr dirty="0" err="1"/>
              <a:t>特徴</a:t>
            </a:r>
            <a:r>
              <a:rPr dirty="0"/>
              <a:t>] .astro </a:t>
            </a:r>
            <a:r>
              <a:rPr dirty="0" err="1"/>
              <a:t>ファイル内の</a:t>
            </a:r>
            <a:r>
              <a:rPr dirty="0"/>
              <a:t> &lt;style&gt; </a:t>
            </a:r>
            <a:r>
              <a:rPr dirty="0" err="1"/>
              <a:t>はデフォルトでスコープされ、クラス名が自動でハッシュ化される</a:t>
            </a:r>
            <a:r>
              <a:rPr dirty="0"/>
              <a:t>。</a:t>
            </a:r>
          </a:p>
          <a:p>
            <a:r>
              <a:rPr dirty="0"/>
              <a:t>[</a:t>
            </a:r>
            <a:r>
              <a:rPr dirty="0" err="1"/>
              <a:t>メリット</a:t>
            </a:r>
            <a:r>
              <a:rPr dirty="0"/>
              <a:t>]</a:t>
            </a:r>
          </a:p>
          <a:p>
            <a:r>
              <a:rPr dirty="0"/>
              <a:t>  ・</a:t>
            </a:r>
            <a:r>
              <a:rPr dirty="0" err="1"/>
              <a:t>追加ライブラリ不要（Tailwind</a:t>
            </a:r>
            <a:r>
              <a:rPr dirty="0"/>
              <a:t> </a:t>
            </a:r>
            <a:r>
              <a:rPr dirty="0" err="1"/>
              <a:t>等を入れずに済む</a:t>
            </a:r>
            <a:r>
              <a:rPr dirty="0"/>
              <a:t> = </a:t>
            </a:r>
            <a:r>
              <a:rPr dirty="0" err="1"/>
              <a:t>バンドル削減</a:t>
            </a:r>
            <a:r>
              <a:rPr dirty="0"/>
              <a:t>）</a:t>
            </a:r>
          </a:p>
          <a:p>
            <a:r>
              <a:rPr dirty="0"/>
              <a:t>  ・</a:t>
            </a:r>
            <a:r>
              <a:rPr dirty="0" err="1"/>
              <a:t>コンポーネント単位でスタイルが閉じるため命名衝突なし</a:t>
            </a:r>
            <a:endParaRPr dirty="0"/>
          </a:p>
          <a:p>
            <a:r>
              <a:rPr dirty="0"/>
              <a:t>  ・CSS Variables（--color-primary </a:t>
            </a:r>
            <a:r>
              <a:rPr dirty="0" err="1"/>
              <a:t>等）で一元管理</a:t>
            </a:r>
            <a:r>
              <a:rPr dirty="0"/>
              <a:t> → </a:t>
            </a:r>
            <a:r>
              <a:rPr dirty="0" err="1"/>
              <a:t>ダークモード切替が瞬時</a:t>
            </a:r>
            <a:endParaRPr dirty="0"/>
          </a:p>
          <a:p>
            <a:r>
              <a:rPr dirty="0"/>
              <a:t>  ・scroll-behavior: smooth を1行書くだけで全アンカーがゼロJSで滑らか遷移</a:t>
            </a:r>
          </a:p>
          <a:p>
            <a:r>
              <a:rPr dirty="0"/>
              <a:t>[</a:t>
            </a:r>
            <a:r>
              <a:rPr dirty="0" err="1"/>
              <a:t>デメリット</a:t>
            </a:r>
            <a:r>
              <a:rPr dirty="0"/>
              <a:t>]</a:t>
            </a:r>
          </a:p>
          <a:p>
            <a:r>
              <a:rPr dirty="0"/>
              <a:t>  ・</a:t>
            </a:r>
            <a:r>
              <a:rPr dirty="0" err="1"/>
              <a:t>グローバルスタイルは別途</a:t>
            </a:r>
            <a:r>
              <a:rPr dirty="0"/>
              <a:t> global.css </a:t>
            </a:r>
            <a:r>
              <a:rPr dirty="0" err="1"/>
              <a:t>に切り出す必要がある</a:t>
            </a:r>
            <a:endParaRPr dirty="0"/>
          </a:p>
          <a:p>
            <a:r>
              <a:rPr dirty="0"/>
              <a:t>  ・</a:t>
            </a:r>
            <a:r>
              <a:rPr dirty="0" err="1"/>
              <a:t>デザインシステム化（Tailwind</a:t>
            </a:r>
            <a:r>
              <a:rPr dirty="0"/>
              <a:t> </a:t>
            </a:r>
            <a:r>
              <a:rPr dirty="0" err="1"/>
              <a:t>等）には向かない（小規模サイトなので問題なし</a:t>
            </a:r>
            <a:r>
              <a:rPr dirty="0"/>
              <a:t>）</a:t>
            </a:r>
          </a:p>
          <a:p>
            <a:endParaRPr dirty="0"/>
          </a:p>
          <a:p>
            <a:r>
              <a:rPr dirty="0"/>
              <a:t>────────────────────────────────────────</a:t>
            </a:r>
          </a:p>
          <a:p>
            <a:r>
              <a:rPr dirty="0"/>
              <a:t>■ ROUTING: </a:t>
            </a:r>
            <a:r>
              <a:rPr dirty="0" err="1"/>
              <a:t>ClientRouter</a:t>
            </a:r>
            <a:r>
              <a:rPr dirty="0"/>
              <a:t> (View Transitions API)</a:t>
            </a:r>
          </a:p>
          <a:p>
            <a:r>
              <a:rPr dirty="0"/>
              <a:t>────────────────────────────────────────</a:t>
            </a:r>
          </a:p>
          <a:p>
            <a:r>
              <a:rPr dirty="0"/>
              <a:t>[</a:t>
            </a:r>
            <a:r>
              <a:rPr dirty="0" err="1"/>
              <a:t>判断基準</a:t>
            </a:r>
            <a:r>
              <a:rPr dirty="0"/>
              <a:t>] </a:t>
            </a:r>
            <a:r>
              <a:rPr dirty="0" err="1"/>
              <a:t>ページ遷移時の白フラッシュをなくし、SPA</a:t>
            </a:r>
            <a:r>
              <a:rPr dirty="0"/>
              <a:t> </a:t>
            </a:r>
            <a:r>
              <a:rPr dirty="0" err="1"/>
              <a:t>並みの体感を静的サイトで実現</a:t>
            </a:r>
            <a:r>
              <a:rPr dirty="0"/>
              <a:t>。</a:t>
            </a:r>
          </a:p>
          <a:p>
            <a:r>
              <a:rPr dirty="0"/>
              <a:t>[</a:t>
            </a:r>
            <a:r>
              <a:rPr dirty="0" err="1"/>
              <a:t>特徴</a:t>
            </a:r>
            <a:r>
              <a:rPr dirty="0"/>
              <a:t>] Astro v6 で </a:t>
            </a:r>
            <a:r>
              <a:rPr dirty="0" err="1"/>
              <a:t>ViewTransitions</a:t>
            </a:r>
            <a:r>
              <a:rPr dirty="0"/>
              <a:t> </a:t>
            </a:r>
            <a:r>
              <a:rPr dirty="0" err="1"/>
              <a:t>から</a:t>
            </a:r>
            <a:r>
              <a:rPr dirty="0"/>
              <a:t> </a:t>
            </a:r>
            <a:r>
              <a:rPr dirty="0" err="1"/>
              <a:t>ClientRouter</a:t>
            </a:r>
            <a:r>
              <a:rPr dirty="0"/>
              <a:t> </a:t>
            </a:r>
            <a:r>
              <a:rPr dirty="0" err="1"/>
              <a:t>に名称変更。ブラウザネイティブの</a:t>
            </a:r>
            <a:r>
              <a:rPr dirty="0"/>
              <a:t> View Transitions API </a:t>
            </a:r>
            <a:r>
              <a:rPr dirty="0" err="1"/>
              <a:t>を使う</a:t>
            </a:r>
            <a:r>
              <a:rPr dirty="0"/>
              <a:t>。</a:t>
            </a:r>
          </a:p>
          <a:p>
            <a:r>
              <a:rPr dirty="0"/>
              <a:t>[</a:t>
            </a:r>
            <a:r>
              <a:rPr dirty="0" err="1"/>
              <a:t>メリット</a:t>
            </a:r>
            <a:r>
              <a:rPr dirty="0"/>
              <a:t>]</a:t>
            </a:r>
          </a:p>
          <a:p>
            <a:r>
              <a:rPr dirty="0"/>
              <a:t>  ・SPA </a:t>
            </a:r>
            <a:r>
              <a:rPr dirty="0" err="1"/>
              <a:t>フレームワーク不要で</a:t>
            </a:r>
            <a:r>
              <a:rPr dirty="0"/>
              <a:t> SPA </a:t>
            </a:r>
            <a:r>
              <a:rPr dirty="0" err="1"/>
              <a:t>風の遷移体験</a:t>
            </a:r>
            <a:endParaRPr dirty="0"/>
          </a:p>
          <a:p>
            <a:r>
              <a:rPr dirty="0"/>
              <a:t>  ・</a:t>
            </a:r>
            <a:r>
              <a:rPr dirty="0" err="1"/>
              <a:t>ページ間で</a:t>
            </a:r>
            <a:r>
              <a:rPr dirty="0"/>
              <a:t> &lt;head&gt; </a:t>
            </a:r>
            <a:r>
              <a:rPr dirty="0" err="1"/>
              <a:t>を差分更新するためメモリ効率が良い</a:t>
            </a:r>
            <a:endParaRPr dirty="0"/>
          </a:p>
          <a:p>
            <a:r>
              <a:rPr dirty="0"/>
              <a:t>  ・</a:t>
            </a:r>
            <a:r>
              <a:rPr dirty="0" err="1"/>
              <a:t>ダークモードのちらつき防止（astro:before-swap</a:t>
            </a:r>
            <a:r>
              <a:rPr dirty="0"/>
              <a:t> </a:t>
            </a:r>
            <a:r>
              <a:rPr dirty="0" err="1"/>
              <a:t>でテーマ適用</a:t>
            </a:r>
            <a:r>
              <a:rPr dirty="0"/>
              <a:t>）</a:t>
            </a:r>
          </a:p>
          <a:p>
            <a:r>
              <a:rPr dirty="0"/>
              <a:t>[</a:t>
            </a:r>
            <a:r>
              <a:rPr dirty="0" err="1"/>
              <a:t>デメリット</a:t>
            </a:r>
            <a:r>
              <a:rPr dirty="0"/>
              <a:t>]</a:t>
            </a:r>
          </a:p>
          <a:p>
            <a:r>
              <a:rPr dirty="0"/>
              <a:t>  ・</a:t>
            </a:r>
            <a:r>
              <a:rPr dirty="0" err="1"/>
              <a:t>onClick</a:t>
            </a:r>
            <a:r>
              <a:rPr dirty="0"/>
              <a:t> </a:t>
            </a:r>
            <a:r>
              <a:rPr dirty="0" err="1"/>
              <a:t>等で動的に動かしている要素は</a:t>
            </a:r>
            <a:r>
              <a:rPr dirty="0"/>
              <a:t> data-astro-reload </a:t>
            </a:r>
            <a:r>
              <a:rPr dirty="0" err="1"/>
              <a:t>の付与が必要（互換性ハック</a:t>
            </a:r>
            <a:r>
              <a:rPr dirty="0"/>
              <a:t>）</a:t>
            </a:r>
          </a:p>
          <a:p>
            <a:r>
              <a:rPr dirty="0"/>
              <a:t>  ・</a:t>
            </a:r>
            <a:r>
              <a:rPr dirty="0" err="1"/>
              <a:t>古いブラウザで</a:t>
            </a:r>
            <a:r>
              <a:rPr dirty="0"/>
              <a:t> View Transitions </a:t>
            </a:r>
            <a:r>
              <a:rPr dirty="0" err="1"/>
              <a:t>が動かない（フォールバックは用意される</a:t>
            </a:r>
            <a:r>
              <a:rPr dirty="0"/>
              <a:t>）</a:t>
            </a:r>
          </a:p>
          <a:p>
            <a:r>
              <a:rPr dirty="0"/>
              <a:t>  ・</a:t>
            </a:r>
            <a:r>
              <a:rPr dirty="0" err="1"/>
              <a:t>ローカル開発時に</a:t>
            </a:r>
            <a:r>
              <a:rPr dirty="0"/>
              <a:t> Vite </a:t>
            </a:r>
            <a:r>
              <a:rPr dirty="0" err="1"/>
              <a:t>キャッシュとぶつかると</a:t>
            </a:r>
            <a:r>
              <a:rPr dirty="0"/>
              <a:t> 504 </a:t>
            </a:r>
            <a:r>
              <a:rPr dirty="0" err="1"/>
              <a:t>が出ることがある</a:t>
            </a:r>
            <a:endParaRPr dirty="0"/>
          </a:p>
          <a:p>
            <a:endParaRPr dirty="0"/>
          </a:p>
          <a:p>
            <a:r>
              <a:rPr dirty="0"/>
              <a:t>────────────────────────────────────────</a:t>
            </a:r>
          </a:p>
          <a:p>
            <a:r>
              <a:rPr dirty="0"/>
              <a:t>■ QUALITY: </a:t>
            </a:r>
            <a:r>
              <a:rPr dirty="0" err="1"/>
              <a:t>vitest</a:t>
            </a:r>
            <a:r>
              <a:rPr dirty="0"/>
              <a:t> + astro check</a:t>
            </a:r>
          </a:p>
          <a:p>
            <a:r>
              <a:rPr dirty="0"/>
              <a:t>────────────────────────────────────────</a:t>
            </a:r>
          </a:p>
          <a:p>
            <a:r>
              <a:rPr dirty="0"/>
              <a:t>[</a:t>
            </a:r>
            <a:r>
              <a:rPr dirty="0" err="1"/>
              <a:t>判断基準</a:t>
            </a:r>
            <a:r>
              <a:rPr dirty="0"/>
              <a:t>] </a:t>
            </a:r>
            <a:r>
              <a:rPr dirty="0" err="1"/>
              <a:t>ビルド時に型・構文・テストを一気に検証し、デプロイ前に欠陥を弾く</a:t>
            </a:r>
            <a:r>
              <a:rPr dirty="0"/>
              <a:t>。</a:t>
            </a:r>
          </a:p>
          <a:p>
            <a:r>
              <a:rPr dirty="0"/>
              <a:t>[</a:t>
            </a:r>
            <a:r>
              <a:rPr dirty="0" err="1"/>
              <a:t>特徴</a:t>
            </a:r>
            <a:r>
              <a:rPr dirty="0"/>
              <a:t>] </a:t>
            </a:r>
            <a:r>
              <a:rPr dirty="0" err="1"/>
              <a:t>vitest</a:t>
            </a:r>
            <a:r>
              <a:rPr dirty="0"/>
              <a:t> = Vite </a:t>
            </a:r>
            <a:r>
              <a:rPr dirty="0" err="1"/>
              <a:t>ネイティブの高速テストランナ</a:t>
            </a:r>
            <a:r>
              <a:rPr dirty="0"/>
              <a:t>ー。astro check = TypeScript + Astro </a:t>
            </a:r>
            <a:r>
              <a:rPr dirty="0" err="1"/>
              <a:t>構文の静的解析</a:t>
            </a:r>
            <a:r>
              <a:rPr dirty="0"/>
              <a:t>。</a:t>
            </a:r>
          </a:p>
          <a:p>
            <a:r>
              <a:rPr dirty="0"/>
              <a:t>[</a:t>
            </a:r>
            <a:r>
              <a:rPr dirty="0" err="1"/>
              <a:t>メリット</a:t>
            </a:r>
            <a:r>
              <a:rPr dirty="0"/>
              <a:t>]</a:t>
            </a:r>
          </a:p>
          <a:p>
            <a:r>
              <a:rPr dirty="0"/>
              <a:t>  ・</a:t>
            </a:r>
            <a:r>
              <a:rPr dirty="0" err="1"/>
              <a:t>vitest</a:t>
            </a:r>
            <a:r>
              <a:rPr dirty="0"/>
              <a:t> は jest </a:t>
            </a:r>
            <a:r>
              <a:rPr dirty="0" err="1"/>
              <a:t>互換</a:t>
            </a:r>
            <a:r>
              <a:rPr dirty="0"/>
              <a:t> API </a:t>
            </a:r>
            <a:r>
              <a:rPr dirty="0" err="1"/>
              <a:t>で学習コストほぼゼロ。実行が圧倒的に速い</a:t>
            </a:r>
            <a:endParaRPr dirty="0"/>
          </a:p>
          <a:p>
            <a:r>
              <a:rPr dirty="0"/>
              <a:t>  ・astro check で .astro </a:t>
            </a:r>
            <a:r>
              <a:rPr dirty="0" err="1"/>
              <a:t>ファイル内の式まで型チェックされる</a:t>
            </a:r>
            <a:endParaRPr dirty="0"/>
          </a:p>
          <a:p>
            <a:r>
              <a:rPr dirty="0"/>
              <a:t>  ・GitHub Actions で push </a:t>
            </a:r>
            <a:r>
              <a:rPr dirty="0" err="1"/>
              <a:t>毎に走らせ、失敗したらデプロイブロック</a:t>
            </a:r>
            <a:endParaRPr dirty="0"/>
          </a:p>
          <a:p>
            <a:r>
              <a:rPr dirty="0"/>
              <a:t>[</a:t>
            </a:r>
            <a:r>
              <a:rPr dirty="0" err="1"/>
              <a:t>デメリット</a:t>
            </a:r>
            <a:r>
              <a:rPr dirty="0"/>
              <a:t>]</a:t>
            </a:r>
          </a:p>
          <a:p>
            <a:r>
              <a:rPr dirty="0"/>
              <a:t>  ・E2E </a:t>
            </a:r>
            <a:r>
              <a:rPr dirty="0" err="1"/>
              <a:t>テスト（Playwright</a:t>
            </a:r>
            <a:r>
              <a:rPr dirty="0"/>
              <a:t> </a:t>
            </a:r>
            <a:r>
              <a:rPr dirty="0" err="1"/>
              <a:t>等）は別途必要（個人サイトなので単体テストで十分と判断</a:t>
            </a:r>
            <a:r>
              <a:rPr dirty="0"/>
              <a:t>）</a:t>
            </a:r>
          </a:p>
          <a:p>
            <a:r>
              <a:rPr dirty="0"/>
              <a:t>  ・</a:t>
            </a:r>
            <a:r>
              <a:rPr dirty="0" err="1"/>
              <a:t>初回起動が少し遅い</a:t>
            </a:r>
            <a:endParaRPr dirty="0"/>
          </a:p>
          <a:p>
            <a:endParaRPr dirty="0"/>
          </a:p>
          <a:p>
            <a:r>
              <a:rPr dirty="0"/>
              <a:t>────────────────────────────────────────</a:t>
            </a:r>
          </a:p>
          <a:p>
            <a:r>
              <a:rPr dirty="0"/>
              <a:t>■ CI/CD: GitHub Actions → GitHub Pages</a:t>
            </a:r>
          </a:p>
          <a:p>
            <a:r>
              <a:rPr dirty="0"/>
              <a:t>────────────────────────────────────────</a:t>
            </a:r>
          </a:p>
          <a:p>
            <a:r>
              <a:rPr dirty="0"/>
              <a:t>[</a:t>
            </a:r>
            <a:r>
              <a:rPr dirty="0" err="1"/>
              <a:t>判断基準</a:t>
            </a:r>
            <a:r>
              <a:rPr dirty="0"/>
              <a:t>] Public </a:t>
            </a:r>
            <a:r>
              <a:rPr dirty="0" err="1"/>
              <a:t>リポジトリなら完全無料。Astro</a:t>
            </a:r>
            <a:r>
              <a:rPr dirty="0"/>
              <a:t> </a:t>
            </a:r>
            <a:r>
              <a:rPr dirty="0" err="1"/>
              <a:t>の公式アクションがある</a:t>
            </a:r>
            <a:r>
              <a:rPr dirty="0"/>
              <a:t>。</a:t>
            </a:r>
          </a:p>
          <a:p>
            <a:r>
              <a:rPr dirty="0"/>
              <a:t>[</a:t>
            </a:r>
            <a:r>
              <a:rPr dirty="0" err="1"/>
              <a:t>特徴</a:t>
            </a:r>
            <a:r>
              <a:rPr dirty="0"/>
              <a:t>] push </a:t>
            </a:r>
            <a:r>
              <a:rPr dirty="0" err="1"/>
              <a:t>時に</a:t>
            </a:r>
            <a:r>
              <a:rPr dirty="0"/>
              <a:t> actions/checkout → setup-node → astro build → deploy-pages の4ステップ。月次 </a:t>
            </a:r>
            <a:r>
              <a:rPr dirty="0" err="1"/>
              <a:t>cron</a:t>
            </a:r>
            <a:r>
              <a:rPr dirty="0"/>
              <a:t> で </a:t>
            </a:r>
            <a:r>
              <a:rPr dirty="0" err="1"/>
              <a:t>Qiita</a:t>
            </a:r>
            <a:r>
              <a:rPr dirty="0"/>
              <a:t> </a:t>
            </a:r>
            <a:r>
              <a:rPr dirty="0" err="1"/>
              <a:t>取得バッチ実行</a:t>
            </a:r>
            <a:r>
              <a:rPr dirty="0"/>
              <a:t>。</a:t>
            </a:r>
          </a:p>
          <a:p>
            <a:r>
              <a:rPr dirty="0"/>
              <a:t>[</a:t>
            </a:r>
            <a:r>
              <a:rPr dirty="0" err="1"/>
              <a:t>メリット</a:t>
            </a:r>
            <a:r>
              <a:rPr dirty="0"/>
              <a:t>]</a:t>
            </a:r>
          </a:p>
          <a:p>
            <a:r>
              <a:rPr dirty="0"/>
              <a:t>  ・</a:t>
            </a:r>
            <a:r>
              <a:rPr dirty="0" err="1"/>
              <a:t>ホスティング・ビルド・CDN・HTTPS</a:t>
            </a:r>
            <a:r>
              <a:rPr dirty="0"/>
              <a:t> </a:t>
            </a:r>
            <a:r>
              <a:rPr dirty="0" err="1"/>
              <a:t>が全て無料</a:t>
            </a:r>
            <a:endParaRPr dirty="0"/>
          </a:p>
          <a:p>
            <a:r>
              <a:rPr dirty="0"/>
              <a:t>  ・GitHub.io </a:t>
            </a:r>
            <a:r>
              <a:rPr dirty="0" err="1"/>
              <a:t>サブドメインでドメイン費もゼロ</a:t>
            </a:r>
            <a:endParaRPr dirty="0"/>
          </a:p>
          <a:p>
            <a:r>
              <a:rPr dirty="0"/>
              <a:t>  ・</a:t>
            </a:r>
            <a:r>
              <a:rPr dirty="0" err="1"/>
              <a:t>cron</a:t>
            </a:r>
            <a:r>
              <a:rPr dirty="0"/>
              <a:t> </a:t>
            </a:r>
            <a:r>
              <a:rPr dirty="0" err="1"/>
              <a:t>トリガーで定期ビルドができる（Qiita</a:t>
            </a:r>
            <a:r>
              <a:rPr dirty="0"/>
              <a:t> 記事を月1で再取得）</a:t>
            </a:r>
          </a:p>
          <a:p>
            <a:r>
              <a:rPr dirty="0"/>
              <a:t>[</a:t>
            </a:r>
            <a:r>
              <a:rPr dirty="0" err="1"/>
              <a:t>デメリット</a:t>
            </a:r>
            <a:r>
              <a:rPr dirty="0"/>
              <a:t>]</a:t>
            </a:r>
          </a:p>
          <a:p>
            <a:r>
              <a:rPr dirty="0"/>
              <a:t>  ・Public </a:t>
            </a:r>
            <a:r>
              <a:rPr dirty="0" err="1"/>
              <a:t>リポジトリ限定（コードが見えても良い前提</a:t>
            </a:r>
            <a:r>
              <a:rPr dirty="0"/>
              <a:t>）</a:t>
            </a:r>
          </a:p>
          <a:p>
            <a:r>
              <a:rPr dirty="0"/>
              <a:t>  ・</a:t>
            </a:r>
            <a:r>
              <a:rPr dirty="0" err="1"/>
              <a:t>ビルド時間に上限あり（無料枠</a:t>
            </a:r>
            <a:r>
              <a:rPr dirty="0"/>
              <a:t> 2,000分/月、本サイトは1ビルド1分以下なので余裕）</a:t>
            </a:r>
          </a:p>
          <a:p>
            <a:r>
              <a:rPr dirty="0"/>
              <a:t>  ・</a:t>
            </a:r>
            <a:r>
              <a:rPr dirty="0" err="1"/>
              <a:t>カスタムドメインを使う場合は</a:t>
            </a:r>
            <a:r>
              <a:rPr dirty="0"/>
              <a:t> DNS </a:t>
            </a:r>
            <a:r>
              <a:rPr dirty="0" err="1"/>
              <a:t>設定が別途必要</a:t>
            </a:r>
            <a:endParaRPr dirty="0"/>
          </a:p>
          <a:p>
            <a:endParaRPr dirty="0"/>
          </a:p>
          <a:p>
            <a:r>
              <a:rPr dirty="0"/>
              <a:t>────────────────────────────────────────</a:t>
            </a:r>
          </a:p>
          <a:p>
            <a:r>
              <a:rPr dirty="0"/>
              <a:t>■ </a:t>
            </a:r>
            <a:r>
              <a:rPr dirty="0" err="1"/>
              <a:t>外部連携</a:t>
            </a:r>
            <a:r>
              <a:rPr dirty="0"/>
              <a:t>: </a:t>
            </a:r>
            <a:r>
              <a:rPr dirty="0" err="1"/>
              <a:t>Qiita</a:t>
            </a:r>
            <a:r>
              <a:rPr dirty="0"/>
              <a:t> API / </a:t>
            </a:r>
            <a:r>
              <a:rPr dirty="0" err="1"/>
              <a:t>Formspree</a:t>
            </a:r>
            <a:r>
              <a:rPr dirty="0"/>
              <a:t> / Cloudflare Web Analytics</a:t>
            </a:r>
          </a:p>
          <a:p>
            <a:r>
              <a:rPr dirty="0"/>
              <a:t>────────────────────────────────────────</a:t>
            </a:r>
          </a:p>
          <a:p>
            <a:r>
              <a:rPr dirty="0"/>
              <a:t>[</a:t>
            </a:r>
            <a:r>
              <a:rPr dirty="0" err="1"/>
              <a:t>判断基準</a:t>
            </a:r>
            <a:r>
              <a:rPr dirty="0"/>
              <a:t>] 「</a:t>
            </a:r>
            <a:r>
              <a:rPr dirty="0" err="1"/>
              <a:t>ビルド時に取得して静的化」できるものは全て静的化。クライアントJSは最小限</a:t>
            </a:r>
            <a:r>
              <a:rPr dirty="0"/>
              <a:t>。</a:t>
            </a:r>
          </a:p>
          <a:p>
            <a:r>
              <a:rPr dirty="0"/>
              <a:t>[</a:t>
            </a:r>
            <a:r>
              <a:rPr dirty="0" err="1"/>
              <a:t>特徴</a:t>
            </a:r>
            <a:r>
              <a:rPr dirty="0"/>
              <a:t>]</a:t>
            </a:r>
          </a:p>
          <a:p>
            <a:r>
              <a:rPr dirty="0"/>
              <a:t>  ・</a:t>
            </a:r>
            <a:r>
              <a:rPr dirty="0" err="1"/>
              <a:t>Qiita</a:t>
            </a:r>
            <a:r>
              <a:rPr dirty="0"/>
              <a:t> API: </a:t>
            </a:r>
            <a:r>
              <a:rPr dirty="0" err="1"/>
              <a:t>ビルド時</a:t>
            </a:r>
            <a:r>
              <a:rPr dirty="0"/>
              <a:t> fetch → likes + stocks*2 </a:t>
            </a:r>
            <a:r>
              <a:rPr dirty="0" err="1"/>
              <a:t>でスコアリング</a:t>
            </a:r>
            <a:r>
              <a:rPr dirty="0"/>
              <a:t> → 上位5件を HTML </a:t>
            </a:r>
            <a:r>
              <a:rPr dirty="0" err="1"/>
              <a:t>埋め込み</a:t>
            </a:r>
            <a:endParaRPr dirty="0"/>
          </a:p>
          <a:p>
            <a:r>
              <a:rPr dirty="0"/>
              <a:t>  ・</a:t>
            </a:r>
            <a:r>
              <a:rPr dirty="0" err="1"/>
              <a:t>Formspree</a:t>
            </a:r>
            <a:r>
              <a:rPr dirty="0"/>
              <a:t>: </a:t>
            </a:r>
            <a:r>
              <a:rPr dirty="0" err="1"/>
              <a:t>お問い合わせフォームのバックエンド代替。Honeypot</a:t>
            </a:r>
            <a:r>
              <a:rPr dirty="0"/>
              <a:t> </a:t>
            </a:r>
            <a:r>
              <a:rPr dirty="0" err="1"/>
              <a:t>でスパム対策</a:t>
            </a:r>
            <a:endParaRPr dirty="0"/>
          </a:p>
          <a:p>
            <a:r>
              <a:rPr dirty="0"/>
              <a:t>  ・Cloudflare Web Analytics: Cookie </a:t>
            </a:r>
            <a:r>
              <a:rPr dirty="0" err="1"/>
              <a:t>不要・GDPR</a:t>
            </a:r>
            <a:r>
              <a:rPr dirty="0"/>
              <a:t> </a:t>
            </a:r>
            <a:r>
              <a:rPr dirty="0" err="1"/>
              <a:t>対応の軽量アナリティクス</a:t>
            </a:r>
            <a:endParaRPr dirty="0"/>
          </a:p>
          <a:p>
            <a:r>
              <a:rPr dirty="0"/>
              <a:t>[</a:t>
            </a:r>
            <a:r>
              <a:rPr dirty="0" err="1"/>
              <a:t>メリット</a:t>
            </a:r>
            <a:r>
              <a:rPr dirty="0"/>
              <a:t>]</a:t>
            </a:r>
          </a:p>
          <a:p>
            <a:r>
              <a:rPr dirty="0"/>
              <a:t>  ・</a:t>
            </a:r>
            <a:r>
              <a:rPr dirty="0" err="1"/>
              <a:t>全て無料枠で運用可能（Qiita</a:t>
            </a:r>
            <a:r>
              <a:rPr dirty="0"/>
              <a:t> API </a:t>
            </a:r>
            <a:r>
              <a:rPr dirty="0" err="1"/>
              <a:t>は認証不要、Formspree</a:t>
            </a:r>
            <a:r>
              <a:rPr dirty="0"/>
              <a:t> 月50件、CF </a:t>
            </a:r>
            <a:r>
              <a:rPr dirty="0" err="1"/>
              <a:t>完全無料</a:t>
            </a:r>
            <a:r>
              <a:rPr dirty="0"/>
              <a:t>）</a:t>
            </a:r>
          </a:p>
          <a:p>
            <a:r>
              <a:rPr dirty="0"/>
              <a:t>  ・</a:t>
            </a:r>
            <a:r>
              <a:rPr dirty="0" err="1"/>
              <a:t>サーバーレス</a:t>
            </a:r>
            <a:r>
              <a:rPr dirty="0"/>
              <a:t> → </a:t>
            </a:r>
            <a:r>
              <a:rPr dirty="0" err="1"/>
              <a:t>バックエンド保守ゼロ</a:t>
            </a:r>
            <a:endParaRPr dirty="0"/>
          </a:p>
          <a:p>
            <a:r>
              <a:rPr dirty="0"/>
              <a:t>  ・</a:t>
            </a:r>
            <a:r>
              <a:rPr dirty="0" err="1"/>
              <a:t>Qiita</a:t>
            </a:r>
            <a:r>
              <a:rPr dirty="0"/>
              <a:t> </a:t>
            </a:r>
            <a:r>
              <a:rPr dirty="0" err="1"/>
              <a:t>記事は静的化されるため記事ページ自体の表示にAPI遅延が乗らない</a:t>
            </a:r>
            <a:endParaRPr dirty="0"/>
          </a:p>
          <a:p>
            <a:r>
              <a:rPr dirty="0"/>
              <a:t>[</a:t>
            </a:r>
            <a:r>
              <a:rPr dirty="0" err="1"/>
              <a:t>デメリット</a:t>
            </a:r>
            <a:r>
              <a:rPr dirty="0"/>
              <a:t>]</a:t>
            </a:r>
          </a:p>
          <a:p>
            <a:r>
              <a:rPr dirty="0"/>
              <a:t>  ・</a:t>
            </a:r>
            <a:r>
              <a:rPr dirty="0" err="1"/>
              <a:t>Qiita</a:t>
            </a:r>
            <a:r>
              <a:rPr dirty="0"/>
              <a:t> API </a:t>
            </a:r>
            <a:r>
              <a:rPr dirty="0" err="1"/>
              <a:t>はレートリミット・IPブロックがあり、ローカル</a:t>
            </a:r>
            <a:r>
              <a:rPr dirty="0"/>
              <a:t> fetch </a:t>
            </a:r>
            <a:r>
              <a:rPr dirty="0" err="1"/>
              <a:t>では</a:t>
            </a:r>
            <a:r>
              <a:rPr dirty="0"/>
              <a:t> 403 </a:t>
            </a:r>
            <a:r>
              <a:rPr dirty="0" err="1"/>
              <a:t>が出る場合がある</a:t>
            </a:r>
            <a:endParaRPr dirty="0"/>
          </a:p>
          <a:p>
            <a:r>
              <a:rPr dirty="0"/>
              <a:t>    → </a:t>
            </a:r>
            <a:r>
              <a:rPr dirty="0" err="1"/>
              <a:t>import.meta.env.PROD</a:t>
            </a:r>
            <a:r>
              <a:rPr dirty="0"/>
              <a:t> </a:t>
            </a:r>
            <a:r>
              <a:rPr dirty="0" err="1"/>
              <a:t>で本番ビルド時のみ実行する分岐で回避</a:t>
            </a:r>
            <a:endParaRPr dirty="0"/>
          </a:p>
          <a:p>
            <a:r>
              <a:rPr dirty="0"/>
              <a:t>  ・</a:t>
            </a:r>
            <a:r>
              <a:rPr dirty="0" err="1"/>
              <a:t>Formspree</a:t>
            </a:r>
            <a:r>
              <a:rPr dirty="0"/>
              <a:t> 無料枠は月50件まで（個人サイトなので十分）</a:t>
            </a:r>
          </a:p>
          <a:p>
            <a:r>
              <a:rPr dirty="0"/>
              <a:t>  ・Cloudflare Analytics は localhost で CORS </a:t>
            </a:r>
            <a:r>
              <a:rPr dirty="0" err="1"/>
              <a:t>エラーが出るが本番では問題なし</a:t>
            </a:r>
            <a:endParaRPr dirty="0"/>
          </a:p>
          <a:p>
            <a:endParaRPr dirty="0"/>
          </a:p>
          <a:p>
            <a:r>
              <a:rPr dirty="0"/>
              <a:t>────────────────────────────────────────</a:t>
            </a:r>
          </a:p>
          <a:p>
            <a:r>
              <a:rPr dirty="0"/>
              <a:t>【</a:t>
            </a:r>
            <a:r>
              <a:rPr dirty="0" err="1"/>
              <a:t>総合的な選定理由</a:t>
            </a:r>
            <a:r>
              <a:rPr dirty="0"/>
              <a:t>】</a:t>
            </a:r>
          </a:p>
          <a:p>
            <a:r>
              <a:rPr dirty="0"/>
              <a:t>これら6スタックの組み合わせは「無料 × </a:t>
            </a:r>
            <a:r>
              <a:rPr dirty="0" err="1"/>
              <a:t>高速</a:t>
            </a:r>
            <a:r>
              <a:rPr dirty="0"/>
              <a:t> × </a:t>
            </a:r>
            <a:r>
              <a:rPr dirty="0" err="1"/>
              <a:t>型安全</a:t>
            </a:r>
            <a:r>
              <a:rPr dirty="0"/>
              <a:t> × </a:t>
            </a:r>
            <a:r>
              <a:rPr dirty="0" err="1"/>
              <a:t>AI駆動開発との親和性」を全て満たす最小構成</a:t>
            </a:r>
            <a:r>
              <a:rPr dirty="0"/>
              <a:t>。</a:t>
            </a:r>
          </a:p>
          <a:p>
            <a:r>
              <a:rPr dirty="0" err="1"/>
              <a:t>特に</a:t>
            </a:r>
            <a:r>
              <a:rPr dirty="0"/>
              <a:t> Astro × Content Collections + Zod は AI </a:t>
            </a:r>
            <a:r>
              <a:rPr dirty="0" err="1"/>
              <a:t>にとって「型情報からコードを生成しやすい」構造であり</a:t>
            </a:r>
            <a:r>
              <a:rPr dirty="0"/>
              <a:t>、</a:t>
            </a:r>
          </a:p>
          <a:p>
            <a:r>
              <a:rPr dirty="0" err="1"/>
              <a:t>AI駆動開発の生産性を最大化する選択になっている</a:t>
            </a:r>
            <a:r>
              <a:rPr dirty="0"/>
              <a:t>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40D1D6-3BC6-4DF1-B693-2708FA121648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506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0000" y="2105561"/>
            <a:ext cx="1059169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0A5FA"/>
                </a:solidFill>
              </a:defRPr>
            </a:pPr>
            <a:r>
              <a:rPr sz="4000" dirty="0"/>
              <a:t>5年目エンジニアが</a:t>
            </a:r>
            <a:endParaRPr lang="en-US" sz="4000" dirty="0"/>
          </a:p>
          <a:p>
            <a:pPr algn="ctr">
              <a:defRPr sz="3200" b="1">
                <a:solidFill>
                  <a:srgbClr val="60A5FA"/>
                </a:solidFill>
              </a:defRPr>
            </a:pPr>
            <a:r>
              <a:rPr sz="4000" dirty="0"/>
              <a:t>Astro v6 × AI駆動開発で 5日間でホームページを作った話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F955EC4C-F238-485B-524B-B157C3AD8008}"/>
              </a:ext>
            </a:extLst>
          </p:cNvPr>
          <p:cNvSpPr txBox="1"/>
          <p:nvPr/>
        </p:nvSpPr>
        <p:spPr>
          <a:xfrm>
            <a:off x="800000" y="4087036"/>
            <a:ext cx="105916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78BFA"/>
                </a:solidFill>
              </a:defRPr>
            </a:pPr>
            <a:r>
              <a:rPr lang="ja-JP" altLang="en-US" sz="2800" dirty="0"/>
              <a:t>須山 哲平</a:t>
            </a:r>
            <a:endParaRPr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0000" y="200000"/>
            <a:ext cx="10591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0A5FA"/>
                </a:solidFill>
              </a:defRPr>
            </a:pPr>
            <a:r>
              <a:rPr sz="3600" dirty="0" err="1"/>
              <a:t>自己紹介</a:t>
            </a:r>
            <a:endParaRPr sz="3600" dirty="0"/>
          </a:p>
        </p:txBody>
      </p:sp>
      <p:sp>
        <p:nvSpPr>
          <p:cNvPr id="3" name="Rounded Rectangle 2"/>
          <p:cNvSpPr/>
          <p:nvPr/>
        </p:nvSpPr>
        <p:spPr>
          <a:xfrm>
            <a:off x="795528" y="1097280"/>
            <a:ext cx="5486400" cy="5029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234440"/>
            <a:ext cx="5166360" cy="2862322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 b="1" dirty="0">
                <a:solidFill>
                  <a:srgbClr val="A78BFA"/>
                </a:solidFill>
                <a:latin typeface="Yu Gothic UI"/>
              </a:rPr>
              <a:t>PROFILE</a:t>
            </a:r>
          </a:p>
          <a:p>
            <a:pPr algn="l"/>
            <a:r>
              <a:rPr sz="2000" b="1" dirty="0">
                <a:solidFill>
                  <a:srgbClr val="E2E8F0"/>
                </a:solidFill>
                <a:latin typeface="Yu Gothic UI"/>
              </a:rPr>
              <a:t>須山 哲平 (Teppei Suyama)</a:t>
            </a:r>
          </a:p>
          <a:p>
            <a:pPr algn="l"/>
            <a:r>
              <a:rPr sz="1300" b="0" dirty="0">
                <a:solidFill>
                  <a:srgbClr val="94A3B8"/>
                </a:solidFill>
                <a:latin typeface="Yu Gothic UI"/>
              </a:rPr>
              <a:t>27歳 / エンジニア5年目 / フルスタック</a:t>
            </a:r>
          </a:p>
          <a:p>
            <a:pPr algn="l"/>
            <a:endParaRPr sz="1300" b="0" dirty="0">
              <a:solidFill>
                <a:srgbClr val="94A3B8"/>
              </a:solidFill>
              <a:latin typeface="Yu Gothic UI"/>
            </a:endParaRPr>
          </a:p>
          <a:p>
            <a:pPr algn="l"/>
            <a:r>
              <a:rPr sz="1200" b="1" dirty="0">
                <a:solidFill>
                  <a:srgbClr val="A78BFA"/>
                </a:solidFill>
                <a:latin typeface="Yu Gothic UI"/>
              </a:rPr>
              <a:t>EXPERIENCE</a:t>
            </a:r>
          </a:p>
          <a:p>
            <a:pPr algn="l"/>
            <a:r>
              <a:rPr sz="1300" b="0" dirty="0">
                <a:solidFill>
                  <a:srgbClr val="E2E8F0"/>
                </a:solidFill>
                <a:latin typeface="Yu Gothic UI"/>
              </a:rPr>
              <a:t>• パッケージ開発(約3年)</a:t>
            </a:r>
          </a:p>
          <a:p>
            <a:pPr algn="l"/>
            <a:r>
              <a:rPr sz="1300" b="0" dirty="0">
                <a:solidFill>
                  <a:srgbClr val="E2E8F0"/>
                </a:solidFill>
                <a:latin typeface="Yu Gothic UI"/>
              </a:rPr>
              <a:t>• SES・業務委託(現職 / フルスタック)</a:t>
            </a:r>
          </a:p>
          <a:p>
            <a:pPr algn="l"/>
            <a:r>
              <a:rPr sz="1300" b="0" dirty="0">
                <a:solidFill>
                  <a:srgbClr val="E2E8F0"/>
                </a:solidFill>
                <a:latin typeface="Yu Gothic UI"/>
              </a:rPr>
              <a:t>• Qiita 211記事 / 個人開発3作を並行運用</a:t>
            </a:r>
          </a:p>
          <a:p>
            <a:pPr algn="l"/>
            <a:endParaRPr sz="1300" b="0" dirty="0">
              <a:solidFill>
                <a:srgbClr val="E2E8F0"/>
              </a:solidFill>
              <a:latin typeface="Yu Gothic UI"/>
            </a:endParaRPr>
          </a:p>
          <a:p>
            <a:pPr algn="l"/>
            <a:r>
              <a:rPr sz="1200" b="1" dirty="0" err="1">
                <a:solidFill>
                  <a:srgbClr val="A78BFA"/>
                </a:solidFill>
                <a:latin typeface="Yu Gothic UI"/>
              </a:rPr>
              <a:t>AI駆動開発 個人開発実績</a:t>
            </a:r>
            <a:endParaRPr sz="1200" b="1" dirty="0">
              <a:solidFill>
                <a:srgbClr val="A78BFA"/>
              </a:solidFill>
              <a:latin typeface="Yu Gothic UI"/>
            </a:endParaRPr>
          </a:p>
          <a:p>
            <a:pPr algn="l"/>
            <a:r>
              <a:rPr lang="ja-JP" altLang="en-US" sz="1300" b="0" dirty="0">
                <a:solidFill>
                  <a:srgbClr val="E2E8F0"/>
                </a:solidFill>
                <a:latin typeface="Yu Gothic UI"/>
              </a:rPr>
              <a:t>① ユメハシ </a:t>
            </a:r>
            <a:r>
              <a:rPr lang="en-US" altLang="ja-JP" sz="1300" b="0" dirty="0">
                <a:solidFill>
                  <a:srgbClr val="E2E8F0"/>
                </a:solidFill>
                <a:latin typeface="Yu Gothic UI"/>
              </a:rPr>
              <a:t>(</a:t>
            </a:r>
            <a:r>
              <a:rPr lang="en-US" sz="1300" b="0" dirty="0">
                <a:solidFill>
                  <a:srgbClr val="E2E8F0"/>
                </a:solidFill>
                <a:latin typeface="Yu Gothic UI"/>
              </a:rPr>
              <a:t>Flutter/Dart)  ──  21</a:t>
            </a:r>
            <a:r>
              <a:rPr lang="ja-JP" altLang="en-US" sz="1300" b="0" dirty="0">
                <a:solidFill>
                  <a:srgbClr val="E2E8F0"/>
                </a:solidFill>
                <a:latin typeface="Yu Gothic UI"/>
              </a:rPr>
              <a:t>日</a:t>
            </a:r>
          </a:p>
          <a:p>
            <a:pPr algn="l"/>
            <a:r>
              <a:rPr lang="ja-JP" altLang="en-US" sz="1300" b="0" dirty="0">
                <a:solidFill>
                  <a:srgbClr val="E2E8F0"/>
                </a:solidFill>
                <a:latin typeface="Yu Gothic UI"/>
              </a:rPr>
              <a:t>② </a:t>
            </a:r>
            <a:r>
              <a:rPr lang="en-US" sz="1300" b="0" dirty="0" err="1">
                <a:solidFill>
                  <a:srgbClr val="E2E8F0"/>
                </a:solidFill>
                <a:latin typeface="Yu Gothic UI"/>
              </a:rPr>
              <a:t>Defrago</a:t>
            </a:r>
            <a:r>
              <a:rPr lang="en-US" sz="1300" b="0" dirty="0">
                <a:solidFill>
                  <a:srgbClr val="E2E8F0"/>
                </a:solidFill>
                <a:latin typeface="Yu Gothic UI"/>
              </a:rPr>
              <a:t> (Python/</a:t>
            </a:r>
            <a:r>
              <a:rPr lang="en-US" sz="1300" b="0" dirty="0" err="1">
                <a:solidFill>
                  <a:srgbClr val="E2E8F0"/>
                </a:solidFill>
                <a:latin typeface="Yu Gothic UI"/>
              </a:rPr>
              <a:t>FastAPI</a:t>
            </a:r>
            <a:r>
              <a:rPr lang="en-US" sz="1300" b="0" dirty="0">
                <a:solidFill>
                  <a:srgbClr val="E2E8F0"/>
                </a:solidFill>
                <a:latin typeface="Yu Gothic UI"/>
              </a:rPr>
              <a:t>)  ──  14</a:t>
            </a:r>
            <a:r>
              <a:rPr lang="ja-JP" altLang="en-US" sz="1300" b="0" dirty="0">
                <a:solidFill>
                  <a:srgbClr val="E2E8F0"/>
                </a:solidFill>
                <a:latin typeface="Yu Gothic UI"/>
              </a:rPr>
              <a:t>日</a:t>
            </a:r>
          </a:p>
          <a:p>
            <a:pPr algn="l"/>
            <a:r>
              <a:rPr sz="1400" b="1" dirty="0">
                <a:solidFill>
                  <a:srgbClr val="60A5FA"/>
                </a:solidFill>
                <a:latin typeface="Yu Gothic UI"/>
              </a:rPr>
              <a:t>③ HomePage (Astro v6/TS)  ──  5日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097280"/>
            <a:ext cx="4992624" cy="5029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48272" y="1234440"/>
            <a:ext cx="4663440" cy="475488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 b="1" dirty="0">
                <a:solidFill>
                  <a:srgbClr val="A78BFA"/>
                </a:solidFill>
                <a:latin typeface="Yu Gothic UI"/>
              </a:rPr>
              <a:t>TODAY'S GOAL</a:t>
            </a:r>
          </a:p>
          <a:p>
            <a:pPr algn="l"/>
            <a:r>
              <a:rPr sz="2000" b="1" dirty="0">
                <a:solidFill>
                  <a:srgbClr val="E2E8F0"/>
                </a:solidFill>
                <a:latin typeface="Yu Gothic UI"/>
              </a:rPr>
              <a:t>今日お話する3つのこと</a:t>
            </a:r>
          </a:p>
          <a:p>
            <a:pPr algn="l"/>
            <a:endParaRPr sz="2000" b="1" dirty="0">
              <a:solidFill>
                <a:srgbClr val="E2E8F0"/>
              </a:solidFill>
              <a:latin typeface="Yu Gothic UI"/>
            </a:endParaRPr>
          </a:p>
          <a:p>
            <a:pPr algn="l"/>
            <a:r>
              <a:rPr sz="1500" b="0" dirty="0">
                <a:solidFill>
                  <a:srgbClr val="E2E8F0"/>
                </a:solidFill>
                <a:latin typeface="Yu Gothic UI"/>
              </a:rPr>
              <a:t>① </a:t>
            </a:r>
            <a:r>
              <a:rPr sz="1500" b="0" dirty="0" err="1">
                <a:solidFill>
                  <a:srgbClr val="E2E8F0"/>
                </a:solidFill>
                <a:latin typeface="Yu Gothic UI"/>
              </a:rPr>
              <a:t>AI駆動開発</a:t>
            </a:r>
            <a:r>
              <a:rPr sz="1500" b="0" dirty="0">
                <a:solidFill>
                  <a:srgbClr val="E2E8F0"/>
                </a:solidFill>
                <a:latin typeface="Yu Gothic UI"/>
              </a:rPr>
              <a:t> vs </a:t>
            </a:r>
            <a:r>
              <a:rPr sz="1500" b="0" dirty="0" err="1">
                <a:solidFill>
                  <a:srgbClr val="E2E8F0"/>
                </a:solidFill>
                <a:latin typeface="Yu Gothic UI"/>
              </a:rPr>
              <a:t>従来開発</a:t>
            </a:r>
            <a:r>
              <a:rPr sz="1500" b="0" dirty="0">
                <a:solidFill>
                  <a:srgbClr val="E2E8F0"/>
                </a:solidFill>
                <a:latin typeface="Yu Gothic UI"/>
              </a:rPr>
              <a:t> </a:t>
            </a:r>
            <a:r>
              <a:rPr sz="1500" b="0" dirty="0" err="1">
                <a:solidFill>
                  <a:srgbClr val="E2E8F0"/>
                </a:solidFill>
                <a:latin typeface="Yu Gothic UI"/>
              </a:rPr>
              <a:t>を「数字」で比較</a:t>
            </a:r>
            <a:endParaRPr sz="1500" b="0" dirty="0">
              <a:solidFill>
                <a:srgbClr val="E2E8F0"/>
              </a:solidFill>
              <a:latin typeface="Yu Gothic UI"/>
            </a:endParaRPr>
          </a:p>
          <a:p>
            <a:pPr algn="l"/>
            <a:r>
              <a:rPr sz="1500" b="0" dirty="0">
                <a:solidFill>
                  <a:srgbClr val="E2E8F0"/>
                </a:solidFill>
                <a:latin typeface="Yu Gothic UI"/>
              </a:rPr>
              <a:t>② Astro v6 — </a:t>
            </a:r>
            <a:r>
              <a:rPr sz="1500" b="0" dirty="0" err="1">
                <a:solidFill>
                  <a:srgbClr val="E2E8F0"/>
                </a:solidFill>
                <a:latin typeface="Yu Gothic UI"/>
              </a:rPr>
              <a:t>日本ではまだ情報が少ないフレームワークの実情</a:t>
            </a:r>
            <a:endParaRPr sz="1500" b="0" dirty="0">
              <a:solidFill>
                <a:srgbClr val="E2E8F0"/>
              </a:solidFill>
              <a:latin typeface="Yu Gothic UI"/>
            </a:endParaRPr>
          </a:p>
          <a:p>
            <a:pPr algn="l"/>
            <a:endParaRPr sz="1500" b="0" dirty="0">
              <a:solidFill>
                <a:srgbClr val="E2E8F0"/>
              </a:solidFill>
              <a:latin typeface="Yu Gothic UI"/>
            </a:endParaRPr>
          </a:p>
          <a:p>
            <a:pPr algn="l"/>
            <a:r>
              <a:rPr sz="1300" b="0" dirty="0">
                <a:solidFill>
                  <a:srgbClr val="60A5FA"/>
                </a:solidFill>
                <a:latin typeface="Yu Gothic UI"/>
              </a:rPr>
              <a:t>✓ </a:t>
            </a:r>
            <a:r>
              <a:rPr sz="1300" b="0" dirty="0" err="1">
                <a:solidFill>
                  <a:srgbClr val="60A5FA"/>
                </a:solidFill>
                <a:latin typeface="Yu Gothic UI"/>
              </a:rPr>
              <a:t>開発期間</a:t>
            </a:r>
            <a:r>
              <a:rPr sz="1300" b="0" dirty="0">
                <a:solidFill>
                  <a:srgbClr val="60A5FA"/>
                </a:solidFill>
                <a:latin typeface="Yu Gothic UI"/>
              </a:rPr>
              <a:t> 5日(</a:t>
            </a:r>
            <a:r>
              <a:rPr sz="1300" b="0" dirty="0" err="1">
                <a:solidFill>
                  <a:srgbClr val="60A5FA"/>
                </a:solidFill>
                <a:latin typeface="Yu Gothic UI"/>
              </a:rPr>
              <a:t>従来比</a:t>
            </a:r>
            <a:r>
              <a:rPr sz="1300" b="0" dirty="0">
                <a:solidFill>
                  <a:srgbClr val="60A5FA"/>
                </a:solidFill>
                <a:latin typeface="Yu Gothic UI"/>
              </a:rPr>
              <a:t> 90%短縮)</a:t>
            </a:r>
          </a:p>
          <a:p>
            <a:pPr algn="l"/>
            <a:r>
              <a:rPr sz="1300" b="0" dirty="0">
                <a:solidFill>
                  <a:srgbClr val="60A5FA"/>
                </a:solidFill>
                <a:latin typeface="Yu Gothic UI"/>
              </a:rPr>
              <a:t>✓ 1日あたり 800行(</a:t>
            </a:r>
            <a:r>
              <a:rPr sz="1300" b="0" dirty="0" err="1">
                <a:solidFill>
                  <a:srgbClr val="60A5FA"/>
                </a:solidFill>
                <a:latin typeface="Yu Gothic UI"/>
              </a:rPr>
              <a:t>従来</a:t>
            </a:r>
            <a:r>
              <a:rPr sz="1300" b="0" dirty="0">
                <a:solidFill>
                  <a:srgbClr val="60A5FA"/>
                </a:solidFill>
                <a:latin typeface="Yu Gothic UI"/>
              </a:rPr>
              <a:t> 50〜100行)</a:t>
            </a:r>
          </a:p>
          <a:p>
            <a:pPr algn="l"/>
            <a:r>
              <a:rPr sz="1300" b="0" dirty="0">
                <a:solidFill>
                  <a:srgbClr val="60A5FA"/>
                </a:solidFill>
                <a:latin typeface="Yu Gothic UI"/>
              </a:rPr>
              <a:t>✓ </a:t>
            </a:r>
            <a:r>
              <a:rPr sz="1300" b="0" dirty="0" err="1">
                <a:solidFill>
                  <a:srgbClr val="60A5FA"/>
                </a:solidFill>
                <a:latin typeface="Yu Gothic UI"/>
              </a:rPr>
              <a:t>月コスト</a:t>
            </a:r>
            <a:r>
              <a:rPr sz="1300" b="0" dirty="0">
                <a:solidFill>
                  <a:srgbClr val="60A5FA"/>
                </a:solidFill>
                <a:latin typeface="Yu Gothic UI"/>
              </a:rPr>
              <a:t> 5,000円(</a:t>
            </a:r>
            <a:r>
              <a:rPr sz="1300" b="0" dirty="0" err="1">
                <a:solidFill>
                  <a:srgbClr val="60A5FA"/>
                </a:solidFill>
                <a:latin typeface="Yu Gothic UI"/>
              </a:rPr>
              <a:t>外注比</a:t>
            </a:r>
            <a:r>
              <a:rPr sz="1300" b="0" dirty="0">
                <a:solidFill>
                  <a:srgbClr val="60A5FA"/>
                </a:solidFill>
                <a:latin typeface="Yu Gothic UI"/>
              </a:rPr>
              <a:t> 1/100〜1/300)</a:t>
            </a:r>
          </a:p>
          <a:p>
            <a:pPr algn="l"/>
            <a:r>
              <a:rPr sz="1300" b="0" dirty="0">
                <a:solidFill>
                  <a:srgbClr val="60A5FA"/>
                </a:solidFill>
                <a:latin typeface="Yu Gothic UI"/>
              </a:rPr>
              <a:t>✓ Astro v6 </a:t>
            </a:r>
            <a:r>
              <a:rPr sz="1300" b="0" dirty="0" err="1">
                <a:solidFill>
                  <a:srgbClr val="60A5FA"/>
                </a:solidFill>
                <a:latin typeface="Yu Gothic UI"/>
              </a:rPr>
              <a:t>学習コスト</a:t>
            </a:r>
            <a:r>
              <a:rPr sz="1300" b="0" dirty="0">
                <a:solidFill>
                  <a:srgbClr val="60A5FA"/>
                </a:solidFill>
                <a:latin typeface="Yu Gothic UI"/>
              </a:rPr>
              <a:t> 0日</a:t>
            </a:r>
          </a:p>
          <a:p>
            <a:pPr algn="l"/>
            <a:endParaRPr sz="1300" b="0" dirty="0">
              <a:solidFill>
                <a:srgbClr val="60A5FA"/>
              </a:solidFill>
              <a:latin typeface="Yu Gothic UI"/>
            </a:endParaRPr>
          </a:p>
          <a:p>
            <a:pPr algn="l"/>
            <a:r>
              <a:rPr sz="1200" b="0" dirty="0">
                <a:solidFill>
                  <a:srgbClr val="94A3B8"/>
                </a:solidFill>
                <a:latin typeface="Yu Gothic UI"/>
              </a:rPr>
              <a:t>③ </a:t>
            </a:r>
            <a:r>
              <a:rPr sz="1200" b="0" dirty="0" err="1">
                <a:solidFill>
                  <a:srgbClr val="94A3B8"/>
                </a:solidFill>
                <a:latin typeface="Yu Gothic UI"/>
              </a:rPr>
              <a:t>最後に</a:t>
            </a:r>
            <a:r>
              <a:rPr sz="1200" b="0" dirty="0">
                <a:solidFill>
                  <a:srgbClr val="94A3B8"/>
                </a:solidFill>
                <a:latin typeface="Yu Gothic UI"/>
              </a:rPr>
              <a:t> </a:t>
            </a:r>
            <a:r>
              <a:rPr sz="1200" b="0" dirty="0" err="1">
                <a:solidFill>
                  <a:srgbClr val="94A3B8"/>
                </a:solidFill>
                <a:latin typeface="Yu Gothic UI"/>
              </a:rPr>
              <a:t>HomePage</a:t>
            </a:r>
            <a:r>
              <a:rPr sz="1200" b="0" dirty="0">
                <a:solidFill>
                  <a:srgbClr val="94A3B8"/>
                </a:solidFill>
                <a:latin typeface="Yu Gothic UI"/>
              </a:rPr>
              <a:t> </a:t>
            </a:r>
            <a:r>
              <a:rPr sz="1200" b="0" dirty="0" err="1">
                <a:solidFill>
                  <a:srgbClr val="94A3B8"/>
                </a:solidFill>
                <a:latin typeface="Yu Gothic UI"/>
              </a:rPr>
              <a:t>そのものを見てもらえると嬉しいです</a:t>
            </a:r>
            <a:endParaRPr sz="1200" b="0" dirty="0">
              <a:solidFill>
                <a:srgbClr val="94A3B8"/>
              </a:solidFill>
              <a:latin typeface="Yu Gothic U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929151" y="4003431"/>
            <a:ext cx="2061341" cy="20398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C901459B-D6D4-46A1-AAA8-B335B069D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167" y="4081626"/>
            <a:ext cx="1821956" cy="18311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1">
            <a:extLst>
              <a:ext uri="{FF2B5EF4-FFF2-40B4-BE49-F238E27FC236}">
                <a16:creationId xmlns:a16="http://schemas.microsoft.com/office/drawing/2014/main" id="{4B6DB73D-52D3-6295-AD46-E6C70C2BC6F8}"/>
              </a:ext>
            </a:extLst>
          </p:cNvPr>
          <p:cNvSpPr txBox="1"/>
          <p:nvPr/>
        </p:nvSpPr>
        <p:spPr>
          <a:xfrm>
            <a:off x="800000" y="200000"/>
            <a:ext cx="10591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0A5FA"/>
                </a:solidFill>
              </a:defRPr>
            </a:pPr>
            <a:r>
              <a:rPr lang="ja-JP" altLang="en-US" sz="3600" dirty="0"/>
              <a:t>本資料の目的</a:t>
            </a:r>
            <a:endParaRPr sz="3600" dirty="0"/>
          </a:p>
        </p:txBody>
      </p:sp>
      <p:sp>
        <p:nvSpPr>
          <p:cNvPr id="43" name="Rounded Rectangle 42"/>
          <p:cNvSpPr/>
          <p:nvPr/>
        </p:nvSpPr>
        <p:spPr>
          <a:xfrm>
            <a:off x="795528" y="1097280"/>
            <a:ext cx="10588752" cy="20116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97280" y="1280160"/>
            <a:ext cx="10058400" cy="173736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 b="1" dirty="0">
                <a:solidFill>
                  <a:srgbClr val="A78BFA"/>
                </a:solidFill>
                <a:latin typeface="Yu Gothic UI"/>
              </a:rPr>
              <a:t>MISSION</a:t>
            </a:r>
          </a:p>
          <a:p>
            <a:pPr algn="l"/>
            <a:r>
              <a:rPr sz="2000" b="1" dirty="0" err="1">
                <a:solidFill>
                  <a:srgbClr val="E2E8F0"/>
                </a:solidFill>
                <a:latin typeface="Yu Gothic UI"/>
              </a:rPr>
              <a:t>AI駆動開発</a:t>
            </a:r>
            <a:r>
              <a:rPr sz="2000" b="1" dirty="0">
                <a:solidFill>
                  <a:srgbClr val="E2E8F0"/>
                </a:solidFill>
                <a:latin typeface="Yu Gothic UI"/>
              </a:rPr>
              <a:t> × Astro v6 </a:t>
            </a:r>
            <a:r>
              <a:rPr sz="2000" b="1" dirty="0" err="1">
                <a:solidFill>
                  <a:srgbClr val="E2E8F0"/>
                </a:solidFill>
                <a:latin typeface="Yu Gothic UI"/>
              </a:rPr>
              <a:t>の実体験を、開発者目線でリアルに共有する</a:t>
            </a:r>
            <a:r>
              <a:rPr sz="2000" b="1" dirty="0">
                <a:solidFill>
                  <a:srgbClr val="E2E8F0"/>
                </a:solidFill>
                <a:latin typeface="Yu Gothic UI"/>
              </a:rPr>
              <a:t>。</a:t>
            </a:r>
          </a:p>
          <a:p>
            <a:pPr algn="l"/>
            <a:endParaRPr sz="2000" b="1" dirty="0">
              <a:solidFill>
                <a:srgbClr val="E2E8F0"/>
              </a:solidFill>
              <a:latin typeface="Yu Gothic UI"/>
            </a:endParaRPr>
          </a:p>
          <a:p>
            <a:pPr algn="l"/>
            <a:r>
              <a:rPr sz="1300" b="0" dirty="0" err="1">
                <a:solidFill>
                  <a:srgbClr val="94A3B8"/>
                </a:solidFill>
                <a:latin typeface="Yu Gothic UI"/>
              </a:rPr>
              <a:t>AIサブスクにもコストはかかる。だから「使った人の数値」と「感想」が求められる</a:t>
            </a:r>
            <a:r>
              <a:rPr sz="1300" b="0" dirty="0">
                <a:solidFill>
                  <a:srgbClr val="94A3B8"/>
                </a:solidFill>
                <a:latin typeface="Yu Gothic UI"/>
              </a:rPr>
              <a:t>。</a:t>
            </a:r>
          </a:p>
          <a:p>
            <a:pPr algn="l"/>
            <a:r>
              <a:rPr sz="1300" b="0" dirty="0" err="1">
                <a:solidFill>
                  <a:srgbClr val="94A3B8"/>
                </a:solidFill>
                <a:latin typeface="Yu Gothic UI"/>
              </a:rPr>
              <a:t>HomePage</a:t>
            </a:r>
            <a:r>
              <a:rPr sz="1300" b="0" dirty="0">
                <a:solidFill>
                  <a:srgbClr val="94A3B8"/>
                </a:solidFill>
                <a:latin typeface="Yu Gothic UI"/>
              </a:rPr>
              <a:t> </a:t>
            </a:r>
            <a:r>
              <a:rPr sz="1300" b="0" dirty="0" err="1">
                <a:solidFill>
                  <a:srgbClr val="94A3B8"/>
                </a:solidFill>
                <a:latin typeface="Yu Gothic UI"/>
              </a:rPr>
              <a:t>開発を題材に、期間・コード量・コスト・Astro</a:t>
            </a:r>
            <a:r>
              <a:rPr sz="1300" b="0" dirty="0">
                <a:solidFill>
                  <a:srgbClr val="94A3B8"/>
                </a:solidFill>
                <a:latin typeface="Yu Gothic UI"/>
              </a:rPr>
              <a:t> v6 </a:t>
            </a:r>
            <a:r>
              <a:rPr sz="1300" b="0" dirty="0" err="1">
                <a:solidFill>
                  <a:srgbClr val="94A3B8"/>
                </a:solidFill>
                <a:latin typeface="Yu Gothic UI"/>
              </a:rPr>
              <a:t>のハマりどころを実データで共有</a:t>
            </a:r>
            <a:r>
              <a:rPr sz="1300" b="0" dirty="0">
                <a:solidFill>
                  <a:srgbClr val="94A3B8"/>
                </a:solidFill>
                <a:latin typeface="Yu Gothic UI"/>
              </a:rPr>
              <a:t>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5528" y="3383280"/>
            <a:ext cx="3456432" cy="30175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78408" y="3520440"/>
            <a:ext cx="3090672" cy="28346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3600" b="1">
                <a:solidFill>
                  <a:srgbClr val="60A5FA"/>
                </a:solidFill>
                <a:latin typeface="Yu Gothic UI"/>
              </a:rPr>
              <a:t>01</a:t>
            </a:r>
          </a:p>
          <a:p>
            <a:pPr algn="l"/>
            <a:r>
              <a:rPr sz="1800" b="1">
                <a:solidFill>
                  <a:srgbClr val="E2E8F0"/>
                </a:solidFill>
                <a:latin typeface="Yu Gothic UI"/>
              </a:rPr>
              <a:t>定量データ</a:t>
            </a:r>
          </a:p>
          <a:p>
            <a:pPr algn="l"/>
            <a:endParaRPr sz="1800" b="1">
              <a:solidFill>
                <a:srgbClr val="E2E8F0"/>
              </a:solidFill>
              <a:latin typeface="Yu Gothic UI"/>
            </a:endParaRPr>
          </a:p>
          <a:p>
            <a:pPr algn="l"/>
            <a:r>
              <a:rPr sz="1300" b="0">
                <a:solidFill>
                  <a:srgbClr val="94A3B8"/>
                </a:solidFill>
                <a:latin typeface="Yu Gothic UI"/>
              </a:rPr>
              <a:t>5日 / 800行/日 / 0学習日。
実プロジェクトの素の数字。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43400" y="3383280"/>
            <a:ext cx="3456432" cy="30175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26280" y="3520440"/>
            <a:ext cx="3090672" cy="28346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3600" b="1">
                <a:solidFill>
                  <a:srgbClr val="A78BFA"/>
                </a:solidFill>
                <a:latin typeface="Yu Gothic UI"/>
              </a:rPr>
              <a:t>02</a:t>
            </a:r>
          </a:p>
          <a:p>
            <a:pPr algn="l"/>
            <a:r>
              <a:rPr sz="1800" b="1">
                <a:solidFill>
                  <a:srgbClr val="E2E8F0"/>
                </a:solidFill>
                <a:latin typeface="Yu Gothic UI"/>
              </a:rPr>
              <a:t>Astro v6 の実情</a:t>
            </a:r>
          </a:p>
          <a:p>
            <a:pPr algn="l"/>
            <a:endParaRPr sz="1800" b="1">
              <a:solidFill>
                <a:srgbClr val="E2E8F0"/>
              </a:solidFill>
              <a:latin typeface="Yu Gothic UI"/>
            </a:endParaRPr>
          </a:p>
          <a:p>
            <a:pPr algn="l"/>
            <a:r>
              <a:rPr sz="1300" b="0">
                <a:solidFill>
                  <a:srgbClr val="94A3B8"/>
                </a:solidFill>
                <a:latin typeface="Yu Gothic UI"/>
              </a:rPr>
              <a:t>日本語記事がまだ少ない。
ハマりどころと強みを共有。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891271" y="3383280"/>
            <a:ext cx="3456432" cy="30175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074151" y="3520440"/>
            <a:ext cx="3090672" cy="28346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3600" b="1">
                <a:solidFill>
                  <a:srgbClr val="60A5FA"/>
                </a:solidFill>
                <a:latin typeface="Yu Gothic UI"/>
              </a:rPr>
              <a:t>03</a:t>
            </a:r>
          </a:p>
          <a:p>
            <a:pPr algn="l"/>
            <a:r>
              <a:rPr sz="1800" b="1">
                <a:solidFill>
                  <a:srgbClr val="E2E8F0"/>
                </a:solidFill>
                <a:latin typeface="Yu Gothic UI"/>
              </a:rPr>
              <a:t>HomePage 誘導</a:t>
            </a:r>
          </a:p>
          <a:p>
            <a:pPr algn="l"/>
            <a:endParaRPr sz="1800" b="1">
              <a:solidFill>
                <a:srgbClr val="E2E8F0"/>
              </a:solidFill>
              <a:latin typeface="Yu Gothic UI"/>
            </a:endParaRPr>
          </a:p>
          <a:p>
            <a:pPr algn="l"/>
            <a:r>
              <a:rPr sz="1300" b="0">
                <a:solidFill>
                  <a:srgbClr val="94A3B8"/>
                </a:solidFill>
                <a:latin typeface="Yu Gothic UI"/>
              </a:rPr>
              <a:t>完成品を直接見てもらうのが
一番の説得材料。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C980B0-04BD-D32B-99E6-7E4FE7518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1">
            <a:extLst>
              <a:ext uri="{FF2B5EF4-FFF2-40B4-BE49-F238E27FC236}">
                <a16:creationId xmlns:a16="http://schemas.microsoft.com/office/drawing/2014/main" id="{2665A0BF-B0B9-44DF-750B-3C171C5695DE}"/>
              </a:ext>
            </a:extLst>
          </p:cNvPr>
          <p:cNvSpPr txBox="1"/>
          <p:nvPr/>
        </p:nvSpPr>
        <p:spPr>
          <a:xfrm>
            <a:off x="800000" y="200000"/>
            <a:ext cx="10591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0A5FA"/>
                </a:solidFill>
              </a:defRPr>
            </a:pPr>
            <a:r>
              <a:rPr lang="ja-JP" altLang="en-US" sz="3600" dirty="0"/>
              <a:t>Astro v6 の世界 — HomePage を支える技術スタック</a:t>
            </a:r>
            <a:endParaRPr sz="3600" dirty="0"/>
          </a:p>
        </p:txBody>
      </p:sp>
      <p:sp>
        <p:nvSpPr>
          <p:cNvPr id="43" name="TextBox 42"/>
          <p:cNvSpPr txBox="1"/>
          <p:nvPr/>
        </p:nvSpPr>
        <p:spPr>
          <a:xfrm>
            <a:off x="795528" y="914400"/>
            <a:ext cx="10588752" cy="45720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500" b="1">
                <a:solidFill>
                  <a:srgbClr val="A78BFA"/>
                </a:solidFill>
                <a:latin typeface="Yu Gothic UI"/>
              </a:rPr>
              <a:t>完全静的SSG + アイランド・アーキテクチャ + ゼロJS by default + ビルド時API連携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5528" y="1508760"/>
            <a:ext cx="3456432" cy="16916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60120" y="1600200"/>
            <a:ext cx="3127248" cy="15087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Yu Gothic UI"/>
              </a:rPr>
              <a:t>WEB</a:t>
            </a:r>
          </a:p>
          <a:p>
            <a:pPr algn="l"/>
            <a:r>
              <a:rPr sz="1700" b="1">
                <a:solidFill>
                  <a:srgbClr val="60A5FA"/>
                </a:solidFill>
                <a:latin typeface="Yu Gothic UI"/>
              </a:rPr>
              <a:t>Astro v6</a:t>
            </a:r>
          </a:p>
          <a:p>
            <a:pPr algn="l"/>
            <a:endParaRPr sz="1700" b="1">
              <a:solidFill>
                <a:srgbClr val="60A5FA"/>
              </a:solidFill>
              <a:latin typeface="Yu Gothic UI"/>
            </a:endParaRP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TypeScript (strict)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Content Collections + Zod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43400" y="1508760"/>
            <a:ext cx="3456432" cy="16916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07992" y="1600200"/>
            <a:ext cx="3127248" cy="15087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Yu Gothic UI"/>
              </a:rPr>
              <a:t>STYLE</a:t>
            </a:r>
          </a:p>
          <a:p>
            <a:pPr algn="l"/>
            <a:r>
              <a:rPr sz="1700" b="1">
                <a:solidFill>
                  <a:srgbClr val="60A5FA"/>
                </a:solidFill>
                <a:latin typeface="Yu Gothic UI"/>
              </a:rPr>
              <a:t>Scoped + is:global CSS</a:t>
            </a:r>
          </a:p>
          <a:p>
            <a:pPr algn="l"/>
            <a:endParaRPr sz="1700" b="1">
              <a:solidFill>
                <a:srgbClr val="60A5FA"/>
              </a:solidFill>
              <a:latin typeface="Yu Gothic UI"/>
            </a:endParaRP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ダークモード対応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CSS Variables / 動的DOM対応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891271" y="1508760"/>
            <a:ext cx="3456432" cy="16916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055863" y="1600200"/>
            <a:ext cx="3127248" cy="15087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Yu Gothic UI"/>
              </a:rPr>
              <a:t>ROUTING</a:t>
            </a:r>
          </a:p>
          <a:p>
            <a:pPr algn="l"/>
            <a:r>
              <a:rPr sz="1700" b="1">
                <a:solidFill>
                  <a:srgbClr val="60A5FA"/>
                </a:solidFill>
                <a:latin typeface="Yu Gothic UI"/>
              </a:rPr>
              <a:t>ClientRouter</a:t>
            </a:r>
          </a:p>
          <a:p>
            <a:pPr algn="l"/>
            <a:endParaRPr sz="1700" b="1">
              <a:solidFill>
                <a:srgbClr val="60A5FA"/>
              </a:solidFill>
              <a:latin typeface="Yu Gothic UI"/>
            </a:endParaRP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View Transitions API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動的セグメント [lang]/[...slug]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95528" y="3310128"/>
            <a:ext cx="3456432" cy="16916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60120" y="3401568"/>
            <a:ext cx="3127248" cy="15087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Yu Gothic UI"/>
              </a:rPr>
              <a:t>QUALITY</a:t>
            </a:r>
          </a:p>
          <a:p>
            <a:pPr algn="l"/>
            <a:r>
              <a:rPr sz="1700" b="1">
                <a:solidFill>
                  <a:srgbClr val="60A5FA"/>
                </a:solidFill>
                <a:latin typeface="Yu Gothic UI"/>
              </a:rPr>
              <a:t>vitest + astro check</a:t>
            </a:r>
          </a:p>
          <a:p>
            <a:pPr algn="l"/>
            <a:endParaRPr sz="1700" b="1">
              <a:solidFill>
                <a:srgbClr val="60A5FA"/>
              </a:solidFill>
              <a:latin typeface="Yu Gothic UI"/>
            </a:endParaRP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型安全 + 32件テスト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ビルド時に全ページ検証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43400" y="3310128"/>
            <a:ext cx="3456432" cy="16916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07992" y="3401568"/>
            <a:ext cx="3127248" cy="15087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Yu Gothic UI"/>
              </a:rPr>
              <a:t>CI / CD</a:t>
            </a:r>
          </a:p>
          <a:p>
            <a:pPr algn="l"/>
            <a:r>
              <a:rPr sz="1700" b="1">
                <a:solidFill>
                  <a:srgbClr val="60A5FA"/>
                </a:solidFill>
                <a:latin typeface="Yu Gothic UI"/>
              </a:rPr>
              <a:t>GitHub Actions</a:t>
            </a:r>
          </a:p>
          <a:p>
            <a:pPr algn="l"/>
            <a:endParaRPr sz="1700" b="1">
              <a:solidFill>
                <a:srgbClr val="60A5FA"/>
              </a:solidFill>
              <a:latin typeface="Yu Gothic UI"/>
            </a:endParaRP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push → 自動ビルド → Pages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日次 cron で予約投稿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891271" y="3310128"/>
            <a:ext cx="3456432" cy="16916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055863" y="3401568"/>
            <a:ext cx="3127248" cy="15087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Yu Gothic UI"/>
              </a:rPr>
              <a:t>外部連携</a:t>
            </a:r>
          </a:p>
          <a:p>
            <a:pPr algn="l"/>
            <a:r>
              <a:rPr sz="1700" b="1">
                <a:solidFill>
                  <a:srgbClr val="60A5FA"/>
                </a:solidFill>
                <a:latin typeface="Yu Gothic UI"/>
              </a:rPr>
              <a:t>Qiita / Formspree / CF</a:t>
            </a:r>
          </a:p>
          <a:p>
            <a:pPr algn="l"/>
            <a:endParaRPr sz="1700" b="1">
              <a:solidFill>
                <a:srgbClr val="60A5FA"/>
              </a:solidFill>
              <a:latin typeface="Yu Gothic UI"/>
            </a:endParaRP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Qiita API ビルド時取得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Formspree(Honeypot)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Cloudflare Web Analytics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95528" y="5166360"/>
            <a:ext cx="10588752" cy="15087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60120" y="5285232"/>
            <a:ext cx="10332720" cy="137160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  <a:latin typeface="Yu Gothic UI"/>
              </a:rPr>
              <a:t>DESIGN PRINCIPLES — HomePage を支える3つの原則</a:t>
            </a:r>
          </a:p>
          <a:p>
            <a:pPr algn="l"/>
            <a:r>
              <a:rPr sz="1300" b="0">
                <a:solidFill>
                  <a:srgbClr val="E2E8F0"/>
                </a:solidFill>
                <a:latin typeface="Yu Gothic UI"/>
              </a:rPr>
              <a:t>● No Hardcoding  ── UIテキストは全て i18n 辞書に集約。ja/en 両対応(Labels型でビルド時検証)。</a:t>
            </a:r>
          </a:p>
          <a:p>
            <a:pPr algn="l"/>
            <a:r>
              <a:rPr sz="1300" b="0">
                <a:solidFill>
                  <a:srgbClr val="E2E8F0"/>
                </a:solidFill>
                <a:latin typeface="Yu Gothic UI"/>
              </a:rPr>
              <a:t>● Zero JS by default  ── 動的DOM には is:global CSS を使用し Scoped CSS の罠を回避。</a:t>
            </a:r>
          </a:p>
          <a:p>
            <a:pPr algn="l"/>
            <a:r>
              <a:rPr sz="1300" b="0">
                <a:solidFill>
                  <a:srgbClr val="E2E8F0"/>
                </a:solidFill>
                <a:latin typeface="Yu Gothic UI"/>
              </a:rPr>
              <a:t>● SEO First  ── sitemap / hreflang / OGP / JSON-LD / RSS を全てビルド時に自動生成。</a:t>
            </a:r>
          </a:p>
        </p:txBody>
      </p:sp>
    </p:spTree>
    <p:extLst>
      <p:ext uri="{BB962C8B-B14F-4D97-AF65-F5344CB8AC3E}">
        <p14:creationId xmlns:p14="http://schemas.microsoft.com/office/powerpoint/2010/main" val="2418765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198E3C-C3EC-2FF6-D3C6-2F937DDEA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1">
            <a:extLst>
              <a:ext uri="{FF2B5EF4-FFF2-40B4-BE49-F238E27FC236}">
                <a16:creationId xmlns:a16="http://schemas.microsoft.com/office/drawing/2014/main" id="{B77C1913-8E02-027A-CBF2-6E9D94CE835C}"/>
              </a:ext>
            </a:extLst>
          </p:cNvPr>
          <p:cNvSpPr txBox="1"/>
          <p:nvPr/>
        </p:nvSpPr>
        <p:spPr>
          <a:xfrm>
            <a:off x="800000" y="200000"/>
            <a:ext cx="10591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0A5FA"/>
                </a:solidFill>
              </a:defRPr>
            </a:pPr>
            <a:r>
              <a:rPr lang="en-US" altLang="ja-JP" sz="3600" dirty="0"/>
              <a:t>Before: </a:t>
            </a:r>
            <a:r>
              <a:rPr lang="ja-JP" altLang="en-US" sz="3600" dirty="0"/>
              <a:t>従来の開発で作ったら？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862634"/>
            <a:ext cx="3200000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  <a:endParaRPr dirty="0"/>
          </a:p>
          <a:p>
            <a:pPr>
              <a:defRPr sz="1800" b="1">
                <a:solidFill>
                  <a:srgbClr val="06B6D4"/>
                </a:solidFill>
              </a:defRPr>
            </a:pPr>
            <a:r>
              <a:rPr dirty="0" err="1"/>
              <a:t>フレームワーク学習</a:t>
            </a:r>
            <a:endParaRPr dirty="0"/>
          </a:p>
          <a:p>
            <a:pPr>
              <a:defRPr sz="2800" b="1">
                <a:solidFill>
                  <a:srgbClr val="E2E8F0"/>
                </a:solidFill>
              </a:defRPr>
            </a:pPr>
            <a:r>
              <a:rPr dirty="0"/>
              <a:t>2〜3週間</a:t>
            </a:r>
          </a:p>
          <a:p>
            <a:pPr>
              <a:defRPr sz="1200" b="0">
                <a:solidFill>
                  <a:srgbClr val="94A3B8"/>
                </a:solidFill>
              </a:defRPr>
            </a:pPr>
            <a:r>
              <a:rPr dirty="0"/>
              <a:t>Astro v6 / Content Collections / </a:t>
            </a:r>
            <a:r>
              <a:rPr dirty="0" err="1"/>
              <a:t>ClientRouter</a:t>
            </a:r>
            <a:r>
              <a:rPr dirty="0"/>
              <a:t> / Zod </a:t>
            </a:r>
            <a:r>
              <a:rPr dirty="0" err="1"/>
              <a:t>を学ぶ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400000" y="862634"/>
            <a:ext cx="3200000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  <a:endParaRPr dirty="0"/>
          </a:p>
          <a:p>
            <a:pPr>
              <a:defRPr sz="1800" b="1">
                <a:solidFill>
                  <a:srgbClr val="06B6D4"/>
                </a:solidFill>
              </a:defRPr>
            </a:pPr>
            <a:r>
              <a:rPr dirty="0" err="1"/>
              <a:t>設計・実装・SEO整備</a:t>
            </a:r>
            <a:endParaRPr dirty="0"/>
          </a:p>
          <a:p>
            <a:pPr>
              <a:defRPr sz="2800" b="1">
                <a:solidFill>
                  <a:srgbClr val="E2E8F0"/>
                </a:solidFill>
              </a:defRPr>
            </a:pPr>
            <a:r>
              <a:rPr dirty="0"/>
              <a:t>3〜6週間</a:t>
            </a:r>
          </a:p>
          <a:p>
            <a:pPr>
              <a:defRPr sz="1200" b="0">
                <a:solidFill>
                  <a:srgbClr val="94A3B8"/>
                </a:solidFill>
              </a:defRPr>
            </a:pPr>
            <a:r>
              <a:rPr dirty="0" err="1"/>
              <a:t>ページ実装</a:t>
            </a:r>
            <a:r>
              <a:rPr dirty="0"/>
              <a:t> + </a:t>
            </a:r>
            <a:r>
              <a:rPr dirty="0" err="1"/>
              <a:t>ダークモード</a:t>
            </a:r>
            <a:r>
              <a:rPr dirty="0"/>
              <a:t> +OGP/RSS/JSON-LD/sitemap </a:t>
            </a:r>
            <a:r>
              <a:rPr dirty="0" err="1"/>
              <a:t>構築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000000" y="862634"/>
            <a:ext cx="32000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  <a:endParaRPr dirty="0"/>
          </a:p>
          <a:p>
            <a:pPr>
              <a:defRPr sz="1800" b="1">
                <a:solidFill>
                  <a:srgbClr val="06B6D4"/>
                </a:solidFill>
              </a:defRPr>
            </a:pPr>
            <a:r>
              <a:rPr dirty="0" err="1"/>
              <a:t>合計</a:t>
            </a:r>
            <a:endParaRPr dirty="0"/>
          </a:p>
          <a:p>
            <a:pPr>
              <a:defRPr sz="2800" b="1">
                <a:solidFill>
                  <a:srgbClr val="E2E8F0"/>
                </a:solidFill>
              </a:defRPr>
            </a:pPr>
            <a:r>
              <a:rPr dirty="0"/>
              <a:t>1〜2ヶ月</a:t>
            </a:r>
          </a:p>
          <a:p>
            <a:pPr>
              <a:defRPr sz="1200" b="0">
                <a:solidFill>
                  <a:srgbClr val="94A3B8"/>
                </a:solidFill>
              </a:defRPr>
            </a:pPr>
            <a:r>
              <a:rPr dirty="0"/>
              <a:t>1人で新規個人ホームページ構築の</a:t>
            </a:r>
            <a:r>
              <a:rPr lang="ja-JP" altLang="en-US" dirty="0"/>
              <a:t>場合</a:t>
            </a:r>
            <a:endParaRPr dirty="0"/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ECC17073-DC4C-40E8-7884-B38478D81C2E}"/>
              </a:ext>
            </a:extLst>
          </p:cNvPr>
          <p:cNvSpPr txBox="1"/>
          <p:nvPr/>
        </p:nvSpPr>
        <p:spPr>
          <a:xfrm>
            <a:off x="800000" y="3486074"/>
            <a:ext cx="10591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0A5FA"/>
                </a:solidFill>
              </a:defRPr>
            </a:pPr>
            <a:r>
              <a:rPr lang="en-US" altLang="ja-JP" sz="3600" dirty="0"/>
              <a:t>After: AI</a:t>
            </a:r>
            <a:r>
              <a:rPr lang="ja-JP" altLang="en-US" sz="3600" dirty="0"/>
              <a:t>駆動開発で作ったら？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D620087E-C29C-3546-F47D-6A2C576A3074}"/>
              </a:ext>
            </a:extLst>
          </p:cNvPr>
          <p:cNvSpPr txBox="1"/>
          <p:nvPr/>
        </p:nvSpPr>
        <p:spPr>
          <a:xfrm>
            <a:off x="800000" y="4148708"/>
            <a:ext cx="3200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  <a:endParaRPr dirty="0"/>
          </a:p>
          <a:p>
            <a:pPr>
              <a:defRPr sz="1800" b="1">
                <a:solidFill>
                  <a:srgbClr val="06B6D4"/>
                </a:solidFill>
              </a:defRPr>
            </a:pPr>
            <a:r>
              <a:rPr dirty="0" err="1"/>
              <a:t>フレームワーク学習</a:t>
            </a:r>
            <a:endParaRPr dirty="0"/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513EE319-164D-7E99-05B6-652C8B8962E5}"/>
              </a:ext>
            </a:extLst>
          </p:cNvPr>
          <p:cNvSpPr txBox="1"/>
          <p:nvPr/>
        </p:nvSpPr>
        <p:spPr>
          <a:xfrm>
            <a:off x="4400000" y="4148708"/>
            <a:ext cx="3200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  <a:endParaRPr dirty="0"/>
          </a:p>
          <a:p>
            <a:pPr>
              <a:defRPr sz="1800" b="1">
                <a:solidFill>
                  <a:srgbClr val="06B6D4"/>
                </a:solidFill>
              </a:defRPr>
            </a:pPr>
            <a:r>
              <a:rPr dirty="0" err="1"/>
              <a:t>設計・実装・SEO整備</a:t>
            </a:r>
            <a:endParaRPr dirty="0"/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49DD2101-DD33-1B64-4D0D-E27AFC080CCA}"/>
              </a:ext>
            </a:extLst>
          </p:cNvPr>
          <p:cNvSpPr txBox="1"/>
          <p:nvPr/>
        </p:nvSpPr>
        <p:spPr>
          <a:xfrm>
            <a:off x="8000000" y="4148708"/>
            <a:ext cx="3200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  <a:endParaRPr dirty="0"/>
          </a:p>
          <a:p>
            <a:pPr>
              <a:defRPr sz="1800" b="1">
                <a:solidFill>
                  <a:srgbClr val="06B6D4"/>
                </a:solidFill>
              </a:defRPr>
            </a:pPr>
            <a:r>
              <a:rPr dirty="0" err="1"/>
              <a:t>合計</a:t>
            </a:r>
            <a:endParaRPr dirty="0"/>
          </a:p>
        </p:txBody>
      </p:sp>
      <p:sp>
        <p:nvSpPr>
          <p:cNvPr id="43" name="TextBox 42"/>
          <p:cNvSpPr txBox="1"/>
          <p:nvPr/>
        </p:nvSpPr>
        <p:spPr>
          <a:xfrm>
            <a:off x="795528" y="4800600"/>
            <a:ext cx="3200400" cy="7772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ctr"/>
            <a:r>
              <a:rPr sz="3600" b="1">
                <a:solidFill>
                  <a:srgbClr val="60A5FA"/>
                </a:solidFill>
                <a:latin typeface="Yu Gothic UI"/>
              </a:rPr>
              <a:t>0日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8" y="5623560"/>
            <a:ext cx="3200400" cy="10058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Yu Gothic UI"/>
              </a:rPr>
              <a:t>AIが全コード生成。</a:t>
            </a:r>
          </a:p>
          <a:p>
            <a:pPr algn="ctr"/>
            <a:r>
              <a:rPr sz="1200" b="0">
                <a:solidFill>
                  <a:srgbClr val="94A3B8"/>
                </a:solidFill>
                <a:latin typeface="Yu Gothic UI"/>
              </a:rPr>
              <a:t>Astro v6 初見で即着手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98264" y="4800600"/>
            <a:ext cx="3200400" cy="7772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ctr"/>
            <a:r>
              <a:rPr sz="3600" b="1">
                <a:solidFill>
                  <a:srgbClr val="60A5FA"/>
                </a:solidFill>
                <a:latin typeface="Yu Gothic UI"/>
              </a:rPr>
              <a:t>5日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98264" y="5623560"/>
            <a:ext cx="3200400" cy="10058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Yu Gothic UI"/>
              </a:rPr>
              <a:t>18ページ + Career SVG +</a:t>
            </a:r>
          </a:p>
          <a:p>
            <a:pPr algn="ctr"/>
            <a:r>
              <a:rPr sz="1200" b="0">
                <a:solidFill>
                  <a:srgbClr val="94A3B8"/>
                </a:solidFill>
                <a:latin typeface="Yu Gothic UI"/>
              </a:rPr>
              <a:t>Qiita連携 + SEO完備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01000" y="4800600"/>
            <a:ext cx="3200400" cy="7772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ctr"/>
            <a:r>
              <a:rPr sz="3600" b="1">
                <a:solidFill>
                  <a:srgbClr val="60A5FA"/>
                </a:solidFill>
                <a:latin typeface="Yu Gothic UI"/>
              </a:rPr>
              <a:t>5日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01000" y="5623560"/>
            <a:ext cx="3200400" cy="10058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Yu Gothic UI"/>
              </a:rPr>
              <a:t>従来比 約90% 短縮</a:t>
            </a:r>
          </a:p>
          <a:p>
            <a:pPr algn="ctr"/>
            <a:r>
              <a:rPr sz="1200" b="0">
                <a:solidFill>
                  <a:srgbClr val="94A3B8"/>
                </a:solidFill>
                <a:latin typeface="Yu Gothic UI"/>
              </a:rPr>
              <a:t>（1〜2ヶ月 → 5日）</a:t>
            </a:r>
          </a:p>
        </p:txBody>
      </p:sp>
    </p:spTree>
    <p:extLst>
      <p:ext uri="{BB962C8B-B14F-4D97-AF65-F5344CB8AC3E}">
        <p14:creationId xmlns:p14="http://schemas.microsoft.com/office/powerpoint/2010/main" val="2721215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60F031-D546-1B86-302C-F3C146A5B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1">
            <a:extLst>
              <a:ext uri="{FF2B5EF4-FFF2-40B4-BE49-F238E27FC236}">
                <a16:creationId xmlns:a16="http://schemas.microsoft.com/office/drawing/2014/main" id="{27CEADF3-6776-A9AE-4D1C-77A7007F0A72}"/>
              </a:ext>
            </a:extLst>
          </p:cNvPr>
          <p:cNvSpPr txBox="1"/>
          <p:nvPr/>
        </p:nvSpPr>
        <p:spPr>
          <a:xfrm>
            <a:off x="800000" y="200000"/>
            <a:ext cx="10591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0A5FA"/>
                </a:solidFill>
              </a:defRPr>
            </a:pPr>
            <a:r>
              <a:rPr lang="ja-JP" altLang="en-US" sz="3600" dirty="0"/>
              <a:t>従来の開発と</a:t>
            </a:r>
            <a:r>
              <a:rPr lang="en-US" altLang="ja-JP" sz="3600" dirty="0"/>
              <a:t>AI</a:t>
            </a:r>
            <a:r>
              <a:rPr lang="ja-JP" altLang="en-US" sz="3600" dirty="0"/>
              <a:t>駆動開発との定量比較表</a:t>
            </a:r>
            <a:endParaRPr sz="3600" dirty="0"/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795528" y="1097280"/>
          <a:ext cx="105887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0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Yu Gothic UI"/>
                        </a:rPr>
                        <a:t>指標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Yu Gothic UI"/>
                        </a:rPr>
                        <a:t>従来開発（推定）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Yu Gothic UI"/>
                        </a:rPr>
                        <a:t>AI駆動開発（実績）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Yu Gothic UI"/>
                        </a:rPr>
                        <a:t>効果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開発期間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1〜2ヶ月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5日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0A5FA"/>
                          </a:solidFill>
                          <a:latin typeface="Yu Gothic UI"/>
                        </a:rPr>
                        <a:t>約90% 短縮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コード生産速度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50〜100行/日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800行/日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0A5FA"/>
                          </a:solidFill>
                          <a:latin typeface="Yu Gothic UI"/>
                        </a:rPr>
                        <a:t>8〜16倍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学習コスト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2〜3週間（Astro v6）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0日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0A5FA"/>
                          </a:solidFill>
                          <a:latin typeface="Yu Gothic UI"/>
                        </a:rPr>
                        <a:t>完全省略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テスト整備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後追い・任意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vitest 同時整備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0A5FA"/>
                          </a:solidFill>
                          <a:latin typeface="Yu Gothic UI"/>
                        </a:rPr>
                        <a:t>品質基盤同梱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ページ数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5〜10ページ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18ページ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0A5FA"/>
                          </a:solidFill>
                          <a:latin typeface="Yu Gothic UI"/>
                        </a:rPr>
                        <a:t>約2倍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SEO / OGP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手動・部分対応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sitemap/OGP/RSS/JSON-LD 自動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0A5FA"/>
                          </a:solidFill>
                          <a:latin typeface="Yu Gothic UI"/>
                        </a:rPr>
                        <a:t>完全自動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デプロイ環境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VPS / 月数千円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GitHub Pages（無料）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0A5FA"/>
                          </a:solidFill>
                          <a:latin typeface="Yu Gothic UI"/>
                        </a:rPr>
                        <a:t>$0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外注換算コスト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50〜150万円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月$33（按分）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0A5FA"/>
                          </a:solidFill>
                          <a:latin typeface="Yu Gothic UI"/>
                        </a:rPr>
                        <a:t>1/100〜1/300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1466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E29CAC-D8D5-262B-33A2-5E3E3651D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1">
            <a:extLst>
              <a:ext uri="{FF2B5EF4-FFF2-40B4-BE49-F238E27FC236}">
                <a16:creationId xmlns:a16="http://schemas.microsoft.com/office/drawing/2014/main" id="{2727FB2A-1ADC-F22E-D588-05CBF63512BA}"/>
              </a:ext>
            </a:extLst>
          </p:cNvPr>
          <p:cNvSpPr txBox="1"/>
          <p:nvPr/>
        </p:nvSpPr>
        <p:spPr>
          <a:xfrm>
            <a:off x="800000" y="200000"/>
            <a:ext cx="10591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0A5FA"/>
                </a:solidFill>
              </a:defRPr>
            </a:pPr>
            <a:r>
              <a:rPr lang="en-US" altLang="ja-JP" sz="3600" dirty="0"/>
              <a:t>AI</a:t>
            </a:r>
            <a:r>
              <a:rPr lang="ja-JP" altLang="en-US" sz="3600" dirty="0"/>
              <a:t>駆動開発のコスト</a:t>
            </a:r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795528" y="1097280"/>
          <a:ext cx="68580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Yu Gothic UI"/>
                        </a:rPr>
                        <a:t>項目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Yu Gothic UI"/>
                        </a:rPr>
                        <a:t>金額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Yu Gothic UI"/>
                        </a:rPr>
                        <a:t>備考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Claude Code (Max)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0A5FA"/>
                          </a:solidFill>
                          <a:latin typeface="Yu Gothic UI"/>
                        </a:rPr>
                        <a:t>$100/月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3プロジェクト共用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GitHub Pages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0A5FA"/>
                          </a:solidFill>
                          <a:latin typeface="Yu Gothic UI"/>
                        </a:rPr>
                        <a:t>$0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Public は完全無料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ドメイン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0A5FA"/>
                          </a:solidFill>
                          <a:latin typeface="Yu Gothic UI"/>
                        </a:rPr>
                        <a:t>$0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github.io サブドメイン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GitHub Actions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0A5FA"/>
                          </a:solidFill>
                          <a:latin typeface="Yu Gothic UI"/>
                        </a:rPr>
                        <a:t>$0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Public リポジトリ無料枠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Cloudflare Analytics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0A5FA"/>
                          </a:solidFill>
                          <a:latin typeface="Yu Gothic UI"/>
                        </a:rPr>
                        <a:t>$0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Cookie-free 無料プラン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Formspree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0A5FA"/>
                          </a:solidFill>
                          <a:latin typeface="Yu Gothic UI"/>
                        </a:rPr>
                        <a:t>$0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無料枠 50件/月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0A5FA"/>
                          </a:solidFill>
                          <a:latin typeface="Yu Gothic UI"/>
                        </a:rPr>
                        <a:t>実質負担（按分）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0A5FA"/>
                          </a:solidFill>
                          <a:latin typeface="Yu Gothic UI"/>
                        </a:rPr>
                        <a:t>$33/月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0A5FA"/>
                          </a:solidFill>
                          <a:latin typeface="Yu Gothic UI"/>
                        </a:rPr>
                        <a:t>= 約 5,000円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4" name="Rounded Rectangle 43"/>
          <p:cNvSpPr/>
          <p:nvPr/>
        </p:nvSpPr>
        <p:spPr>
          <a:xfrm>
            <a:off x="7909560" y="1097280"/>
            <a:ext cx="3474720" cy="4389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092440" y="1280160"/>
            <a:ext cx="3200400" cy="41148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  <a:latin typeface="Yu Gothic UI"/>
              </a:rPr>
              <a:t>VS 外注</a:t>
            </a:r>
          </a:p>
          <a:p>
            <a:pPr algn="l"/>
            <a:r>
              <a:rPr sz="1400" b="1">
                <a:solidFill>
                  <a:srgbClr val="E2E8F0"/>
                </a:solidFill>
                <a:latin typeface="Yu Gothic UI"/>
              </a:rPr>
              <a:t>従来の外注開発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Yu Gothic UI"/>
              </a:rPr>
              <a:t>（個人サイト, 1〜2ヶ月）</a:t>
            </a:r>
          </a:p>
          <a:p>
            <a:pPr algn="l"/>
            <a:endParaRPr sz="1100" b="0">
              <a:solidFill>
                <a:srgbClr val="94A3B8"/>
              </a:solidFill>
              <a:latin typeface="Yu Gothic UI"/>
            </a:endParaRPr>
          </a:p>
          <a:p>
            <a:pPr algn="l"/>
            <a:r>
              <a:rPr sz="2400" b="1">
                <a:solidFill>
                  <a:srgbClr val="94A3B8"/>
                </a:solidFill>
                <a:latin typeface="Yu Gothic UI"/>
              </a:rPr>
              <a:t>50〜150万円</a:t>
            </a:r>
          </a:p>
          <a:p>
            <a:pPr algn="l"/>
            <a:endParaRPr sz="2400" b="1">
              <a:solidFill>
                <a:srgbClr val="94A3B8"/>
              </a:solidFill>
              <a:latin typeface="Yu Gothic UI"/>
            </a:endParaRPr>
          </a:p>
          <a:p>
            <a:pPr algn="l"/>
            <a:r>
              <a:rPr sz="1400" b="1">
                <a:solidFill>
                  <a:srgbClr val="E2E8F0"/>
                </a:solidFill>
                <a:latin typeface="Yu Gothic UI"/>
              </a:rPr>
              <a:t>AI駆動開発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Yu Gothic UI"/>
              </a:rPr>
              <a:t>（HomePage 実績）</a:t>
            </a:r>
          </a:p>
          <a:p>
            <a:pPr algn="l"/>
            <a:endParaRPr sz="1100" b="0">
              <a:solidFill>
                <a:srgbClr val="94A3B8"/>
              </a:solidFill>
              <a:latin typeface="Yu Gothic UI"/>
            </a:endParaRPr>
          </a:p>
          <a:p>
            <a:pPr algn="l"/>
            <a:r>
              <a:rPr sz="2600" b="1">
                <a:solidFill>
                  <a:srgbClr val="60A5FA"/>
                </a:solidFill>
                <a:latin typeface="Yu Gothic UI"/>
              </a:rPr>
              <a:t>月 5,000円</a:t>
            </a:r>
          </a:p>
          <a:p>
            <a:pPr algn="l"/>
            <a:endParaRPr sz="2600" b="1">
              <a:solidFill>
                <a:srgbClr val="60A5FA"/>
              </a:solidFill>
              <a:latin typeface="Yu Gothic UI"/>
            </a:endParaRPr>
          </a:p>
          <a:p>
            <a:pPr algn="l"/>
            <a:r>
              <a:rPr sz="1200" b="0">
                <a:solidFill>
                  <a:srgbClr val="94A3B8"/>
                </a:solidFill>
                <a:latin typeface="Yu Gothic UI"/>
              </a:rPr>
              <a:t>コスト比</a:t>
            </a:r>
          </a:p>
          <a:p>
            <a:pPr algn="l"/>
            <a:r>
              <a:rPr sz="2000" b="1">
                <a:solidFill>
                  <a:srgbClr val="A78BFA"/>
                </a:solidFill>
                <a:latin typeface="Yu Gothic UI"/>
              </a:rPr>
              <a:t>1/100 〜 1/300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5528" y="5669280"/>
            <a:ext cx="10588752" cy="960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0120" y="5760720"/>
            <a:ext cx="10332720" cy="82296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Yu Gothic UI"/>
              </a:rPr>
              <a:t>🔑  Claude Code Max は1契約で複数プロジェクト共用可。AI駆動開発は『3作目以降から劇的に元が取れる』</a:t>
            </a:r>
          </a:p>
          <a:p>
            <a:pPr algn="l"/>
            <a:r>
              <a:rPr sz="1200" b="0">
                <a:solidFill>
                  <a:srgbClr val="94A3B8"/>
                </a:solidFill>
                <a:latin typeface="Yu Gothic UI"/>
              </a:rPr>
              <a:t>ユメハシ・Defrago・HomePage で同じサブスクを使い回し。Astro v6 のようなフレームワークも『テンプレート化』すれば学習コスト 0 に収束する。</a:t>
            </a:r>
          </a:p>
        </p:txBody>
      </p:sp>
    </p:spTree>
    <p:extLst>
      <p:ext uri="{BB962C8B-B14F-4D97-AF65-F5344CB8AC3E}">
        <p14:creationId xmlns:p14="http://schemas.microsoft.com/office/powerpoint/2010/main" val="1314748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244133-9C80-5155-0E91-0E8D3812C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1">
            <a:extLst>
              <a:ext uri="{FF2B5EF4-FFF2-40B4-BE49-F238E27FC236}">
                <a16:creationId xmlns:a16="http://schemas.microsoft.com/office/drawing/2014/main" id="{3BD072A2-FD0E-2F52-0C4E-8A2C9C01C1AC}"/>
              </a:ext>
            </a:extLst>
          </p:cNvPr>
          <p:cNvSpPr txBox="1"/>
          <p:nvPr/>
        </p:nvSpPr>
        <p:spPr>
          <a:xfrm>
            <a:off x="800000" y="200000"/>
            <a:ext cx="10591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0A5FA"/>
                </a:solidFill>
              </a:defRPr>
            </a:pPr>
            <a:r>
              <a:rPr lang="en-US" altLang="ja-JP" sz="3600" dirty="0"/>
              <a:t>AI</a:t>
            </a:r>
            <a:r>
              <a:rPr lang="ja-JP" altLang="en-US" sz="3600" dirty="0"/>
              <a:t>駆動開発で発揮される開発者の真価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8" y="960120"/>
            <a:ext cx="10588752" cy="50292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500" b="1">
                <a:solidFill>
                  <a:srgbClr val="A78BFA"/>
                </a:solidFill>
                <a:latin typeface="Yu Gothic UI"/>
              </a:rPr>
              <a:t>AI が「コード生成」を、フレームワークが「再発明回避」を担う。開発者は『何を作るか』に集中できる。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5528" y="1600200"/>
            <a:ext cx="5294376" cy="24688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78408" y="1737360"/>
            <a:ext cx="4937760" cy="5486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800" b="1">
                <a:solidFill>
                  <a:srgbClr val="60A5FA"/>
                </a:solidFill>
                <a:latin typeface="Yu Gothic UI"/>
              </a:rPr>
              <a:t>🎯  プロダクトビジョン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" y="2377440"/>
            <a:ext cx="4937760" cy="16002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「何を作るか」「なぜ作るか」は AI には決められない。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ドメインの理解と、ユーザーへの共感に基づく意思決定こそ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開発者の最初の価値。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89904" y="1600200"/>
            <a:ext cx="5294376" cy="24688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72784" y="1737360"/>
            <a:ext cx="4937760" cy="5486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800" b="1">
                <a:solidFill>
                  <a:srgbClr val="60A5FA"/>
                </a:solidFill>
                <a:latin typeface="Yu Gothic UI"/>
              </a:rPr>
              <a:t>🧭  アーキテクチャ判断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72784" y="2377440"/>
            <a:ext cx="4937760" cy="16002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Astro v6 を選ぶ・GitHub Pages にする・labels.ts に集約する。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技術選定とトレードオフの判断は経験からしか出てこない。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AIは『提案』はするが『決定』はできない。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95528" y="4160520"/>
            <a:ext cx="5294376" cy="24688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78408" y="4297680"/>
            <a:ext cx="4937760" cy="5486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800" b="1">
                <a:solidFill>
                  <a:srgbClr val="60A5FA"/>
                </a:solidFill>
                <a:latin typeface="Yu Gothic UI"/>
              </a:rPr>
              <a:t>🔍  品質・UX レビュー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8408" y="4937759"/>
            <a:ext cx="4937760" cy="16002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AIが書いたコードを読み、UX の細部を詰め、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「ここは青文字を使わない」「目次はこのデザインで」と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判断を返す。最終品質は人間の目が決める。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089904" y="4160520"/>
            <a:ext cx="5294376" cy="24688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72784" y="4297680"/>
            <a:ext cx="4937760" cy="5486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800" b="1">
                <a:solidFill>
                  <a:srgbClr val="60A5FA"/>
                </a:solidFill>
                <a:latin typeface="Yu Gothic UI"/>
              </a:rPr>
              <a:t>⚡  高速フィードバック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72784" y="4937759"/>
            <a:ext cx="4937760" cy="16002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プロンプト設計・指示の精度・再現可能なテンプレート化。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AIを最大効率で動かすには、開発者自身の経験と判断が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そのままスループットになる。</a:t>
            </a:r>
          </a:p>
        </p:txBody>
      </p:sp>
    </p:spTree>
    <p:extLst>
      <p:ext uri="{BB962C8B-B14F-4D97-AF65-F5344CB8AC3E}">
        <p14:creationId xmlns:p14="http://schemas.microsoft.com/office/powerpoint/2010/main" val="2941424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07B1DD-514B-23B1-E4CD-E5DED30FD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1">
            <a:extLst>
              <a:ext uri="{FF2B5EF4-FFF2-40B4-BE49-F238E27FC236}">
                <a16:creationId xmlns:a16="http://schemas.microsoft.com/office/drawing/2014/main" id="{92EACE4D-4449-EE0A-8FF0-604D3F9E6FFF}"/>
              </a:ext>
            </a:extLst>
          </p:cNvPr>
          <p:cNvSpPr txBox="1"/>
          <p:nvPr/>
        </p:nvSpPr>
        <p:spPr>
          <a:xfrm>
            <a:off x="800000" y="200000"/>
            <a:ext cx="10591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0A5FA"/>
                </a:solidFill>
              </a:defRPr>
            </a:pPr>
            <a:r>
              <a:rPr lang="ja-JP" altLang="en-US" sz="3600" dirty="0"/>
              <a:t>HomePage を見てください — 今日話した全てが詰まっています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5528" y="1632685"/>
            <a:ext cx="10588752" cy="1920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97280" y="1815565"/>
            <a:ext cx="10058400" cy="1261884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 b="1" dirty="0">
                <a:solidFill>
                  <a:srgbClr val="A78BFA"/>
                </a:solidFill>
                <a:latin typeface="Yu Gothic UI"/>
              </a:rPr>
              <a:t>SEE THE SITE</a:t>
            </a:r>
          </a:p>
          <a:p>
            <a:pPr algn="l"/>
            <a:r>
              <a:rPr sz="2200" b="1" dirty="0">
                <a:solidFill>
                  <a:srgbClr val="E2E8F0"/>
                </a:solidFill>
                <a:latin typeface="Yu Gothic UI"/>
              </a:rPr>
              <a:t>「</a:t>
            </a:r>
            <a:r>
              <a:rPr sz="2200" b="1" dirty="0" err="1">
                <a:solidFill>
                  <a:srgbClr val="E2E8F0"/>
                </a:solidFill>
                <a:latin typeface="Yu Gothic UI"/>
              </a:rPr>
              <a:t>自分をプロダクト化する場所が欲しかった</a:t>
            </a:r>
            <a:r>
              <a:rPr sz="2200" b="1" dirty="0">
                <a:solidFill>
                  <a:srgbClr val="E2E8F0"/>
                </a:solidFill>
                <a:latin typeface="Yu Gothic UI"/>
              </a:rPr>
              <a:t>。」</a:t>
            </a:r>
          </a:p>
          <a:p>
            <a:pPr algn="l"/>
            <a:endParaRPr sz="2200" b="1" dirty="0">
              <a:solidFill>
                <a:srgbClr val="E2E8F0"/>
              </a:solidFill>
              <a:latin typeface="Yu Gothic UI"/>
            </a:endParaRPr>
          </a:p>
          <a:p>
            <a:pPr algn="l"/>
            <a:r>
              <a:rPr sz="1400" b="0" dirty="0" err="1">
                <a:solidFill>
                  <a:srgbClr val="94A3B8"/>
                </a:solidFill>
                <a:latin typeface="Yu Gothic UI"/>
              </a:rPr>
              <a:t>このLTで話した定量データも、Astro</a:t>
            </a:r>
            <a:r>
              <a:rPr sz="1400" b="0" dirty="0">
                <a:solidFill>
                  <a:srgbClr val="94A3B8"/>
                </a:solidFill>
                <a:latin typeface="Yu Gothic UI"/>
              </a:rPr>
              <a:t> v6 </a:t>
            </a:r>
            <a:r>
              <a:rPr sz="1400" b="0" dirty="0" err="1">
                <a:solidFill>
                  <a:srgbClr val="94A3B8"/>
                </a:solidFill>
                <a:latin typeface="Yu Gothic UI"/>
              </a:rPr>
              <a:t>の実装例も、すべてサイト上で追体験できます</a:t>
            </a:r>
            <a:r>
              <a:rPr sz="1400" b="0" dirty="0">
                <a:solidFill>
                  <a:srgbClr val="94A3B8"/>
                </a:solidFill>
                <a:latin typeface="Yu Gothic UI"/>
              </a:rPr>
              <a:t>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5528" y="3781525"/>
            <a:ext cx="3456432" cy="24688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78408" y="3918685"/>
            <a:ext cx="3108960" cy="59436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700" b="1">
                <a:solidFill>
                  <a:srgbClr val="60A5FA"/>
                </a:solidFill>
                <a:latin typeface="Yu Gothic UI"/>
              </a:rPr>
              <a:t>📄  履歴書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8408" y="4558765"/>
            <a:ext cx="3108960" cy="164592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経歴・スキル・資格を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Git ブランチ風 SVG で可視化。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PDF より動きで魅せる。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98264" y="3781525"/>
            <a:ext cx="3456432" cy="24688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581144" y="3918685"/>
            <a:ext cx="3108960" cy="59436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700" b="1">
                <a:solidFill>
                  <a:srgbClr val="60A5FA"/>
                </a:solidFill>
                <a:latin typeface="Yu Gothic UI"/>
              </a:rPr>
              <a:t>💼  ポートフォリオ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81144" y="4558765"/>
            <a:ext cx="3108960" cy="164592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個人プロダクト3作 + 参画プロジェクトを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1サイトで横断的に紹介。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リンク1つで全実績にアクセス。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01000" y="3781525"/>
            <a:ext cx="3456432" cy="24688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183879" y="3918685"/>
            <a:ext cx="3108960" cy="59436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700" b="1">
                <a:solidFill>
                  <a:srgbClr val="60A5FA"/>
                </a:solidFill>
                <a:latin typeface="Yu Gothic UI"/>
              </a:rPr>
              <a:t>✍️  ブログ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83879" y="4558765"/>
            <a:ext cx="3108960" cy="738664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 b="0" dirty="0" err="1">
                <a:solidFill>
                  <a:srgbClr val="E2E8F0"/>
                </a:solidFill>
                <a:latin typeface="Yu Gothic UI"/>
              </a:rPr>
              <a:t>毎日投稿(一日一投稿ルール)。</a:t>
            </a:r>
          </a:p>
          <a:p>
            <a:pPr algn="l"/>
            <a:r>
              <a:rPr lang="ja-JP" altLang="en-US" sz="1200" b="0" dirty="0">
                <a:solidFill>
                  <a:srgbClr val="E2E8F0"/>
                </a:solidFill>
                <a:latin typeface="Yu Gothic UI"/>
              </a:rPr>
              <a:t>Qiita 記事もビルド時に自動取得し表示。</a:t>
            </a:r>
            <a:endParaRPr sz="1200" b="0" dirty="0">
              <a:solidFill>
                <a:srgbClr val="E2E8F0"/>
              </a:solidFill>
              <a:latin typeface="Yu Gothic UI"/>
            </a:endParaRPr>
          </a:p>
        </p:txBody>
      </p:sp>
    </p:spTree>
    <p:extLst>
      <p:ext uri="{BB962C8B-B14F-4D97-AF65-F5344CB8AC3E}">
        <p14:creationId xmlns:p14="http://schemas.microsoft.com/office/powerpoint/2010/main" val="3572193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6768AF-0C0A-8CBD-5448-0A1D9039F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2089D5-455D-5512-E005-46563C7FFA83}"/>
              </a:ext>
            </a:extLst>
          </p:cNvPr>
          <p:cNvSpPr txBox="1"/>
          <p:nvPr/>
        </p:nvSpPr>
        <p:spPr>
          <a:xfrm>
            <a:off x="800000" y="2568342"/>
            <a:ext cx="1059169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0A5FA"/>
                </a:solidFill>
              </a:defRPr>
            </a:pPr>
            <a:r>
              <a:rPr lang="ja-JP" altLang="en-US" sz="4000" dirty="0"/>
              <a:t>ご清聴ありがとうございました</a:t>
            </a:r>
            <a:endParaRPr sz="4000" dirty="0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4C967B40-6251-4914-278D-1C30B7CF87A3}"/>
              </a:ext>
            </a:extLst>
          </p:cNvPr>
          <p:cNvSpPr txBox="1"/>
          <p:nvPr/>
        </p:nvSpPr>
        <p:spPr>
          <a:xfrm>
            <a:off x="800000" y="3563816"/>
            <a:ext cx="105916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78BFA"/>
                </a:solidFill>
              </a:defRPr>
            </a:pPr>
            <a:r>
              <a:rPr lang="ja-JP" altLang="en-US" sz="2800" dirty="0"/>
              <a:t>須山 哲平  /  https://teppei19980914.github.io/HomePage/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1552236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1599</Words>
  <Application>Microsoft Office PowerPoint</Application>
  <PresentationFormat>ワイド画面</PresentationFormat>
  <Paragraphs>324</Paragraphs>
  <Slides>10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5" baseType="lpstr">
      <vt:lpstr>Yu Gothic UI</vt:lpstr>
      <vt:lpstr>游ゴシック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Suyama Teppei</cp:lastModifiedBy>
  <cp:revision>9</cp:revision>
  <dcterms:created xsi:type="dcterms:W3CDTF">2013-01-27T09:14:16Z</dcterms:created>
  <dcterms:modified xsi:type="dcterms:W3CDTF">2026-04-22T05:19:29Z</dcterms:modified>
  <cp:category/>
</cp:coreProperties>
</file>